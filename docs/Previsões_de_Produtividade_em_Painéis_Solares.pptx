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4" d="100"/>
          <a:sy n="214" d="100"/>
        </p:scale>
        <p:origin x="2802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2099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7688" y="453628"/>
            <a:ext cx="428625" cy="4286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27903" y="1110853"/>
            <a:ext cx="688819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3077" b="1" dirty="0">
                <a:solidFill>
                  <a:srgbClr val="C44848"/>
                </a:solidFill>
              </a:rPr>
              <a:t>Solarium SIEP</a:t>
            </a:r>
            <a:endParaRPr lang="en-US" sz="3077" dirty="0"/>
          </a:p>
        </p:txBody>
      </p:sp>
      <p:sp>
        <p:nvSpPr>
          <p:cNvPr id="5" name="Text 1"/>
          <p:cNvSpPr/>
          <p:nvPr/>
        </p:nvSpPr>
        <p:spPr>
          <a:xfrm>
            <a:off x="1127903" y="1910953"/>
            <a:ext cx="688819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595" dirty="0">
                <a:solidFill>
                  <a:srgbClr val="121211"/>
                </a:solidFill>
              </a:rPr>
              <a:t>Sistema Inteligente de Estimativa de Produtividade Solar</a:t>
            </a:r>
            <a:endParaRPr lang="en-US" sz="1595" dirty="0"/>
          </a:p>
        </p:txBody>
      </p:sp>
      <p:sp>
        <p:nvSpPr>
          <p:cNvPr id="6" name="Text 2"/>
          <p:cNvSpPr/>
          <p:nvPr/>
        </p:nvSpPr>
        <p:spPr>
          <a:xfrm>
            <a:off x="1127903" y="2225278"/>
            <a:ext cx="688819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4B5563"/>
                </a:solidFill>
              </a:rPr>
              <a:t>Previsão de Geração de Energia com Machine Learning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1470803" y="2768203"/>
            <a:ext cx="292974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Projeto A3 - 2025.2</a:t>
            </a:r>
            <a:endParaRPr lang="en-US" sz="885" dirty="0"/>
          </a:p>
        </p:txBody>
      </p:sp>
      <p:sp>
        <p:nvSpPr>
          <p:cNvPr id="8" name="Text 4"/>
          <p:cNvSpPr/>
          <p:nvPr/>
        </p:nvSpPr>
        <p:spPr>
          <a:xfrm>
            <a:off x="1470803" y="3025378"/>
            <a:ext cx="292974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74151"/>
                </a:solidFill>
              </a:rPr>
              <a:t>Disciplina: Sistemas de Controle e Inteligência Artificial</a:t>
            </a:r>
            <a:endParaRPr lang="en-US" sz="834" dirty="0"/>
          </a:p>
        </p:txBody>
      </p:sp>
      <p:sp>
        <p:nvSpPr>
          <p:cNvPr id="9" name="Text 5"/>
          <p:cNvSpPr/>
          <p:nvPr/>
        </p:nvSpPr>
        <p:spPr>
          <a:xfrm>
            <a:off x="1470803" y="3311128"/>
            <a:ext cx="292974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74151"/>
                </a:solidFill>
              </a:rPr>
              <a:t>Curso: Engenharia da Computação</a:t>
            </a:r>
            <a:endParaRPr lang="en-US" sz="834" dirty="0"/>
          </a:p>
        </p:txBody>
      </p:sp>
      <p:sp>
        <p:nvSpPr>
          <p:cNvPr id="10" name="Text 6"/>
          <p:cNvSpPr/>
          <p:nvPr/>
        </p:nvSpPr>
        <p:spPr>
          <a:xfrm>
            <a:off x="1470803" y="3596878"/>
            <a:ext cx="292974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74151"/>
                </a:solidFill>
              </a:rPr>
              <a:t>Professor: Noberto Maciel</a:t>
            </a:r>
            <a:endParaRPr lang="en-US" sz="834" dirty="0"/>
          </a:p>
        </p:txBody>
      </p:sp>
      <p:sp>
        <p:nvSpPr>
          <p:cNvPr id="11" name="Text 7"/>
          <p:cNvSpPr/>
          <p:nvPr/>
        </p:nvSpPr>
        <p:spPr>
          <a:xfrm>
            <a:off x="4743450" y="2768203"/>
            <a:ext cx="292974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Equipe:</a:t>
            </a:r>
            <a:endParaRPr lang="en-US" sz="885" dirty="0"/>
          </a:p>
        </p:txBody>
      </p:sp>
      <p:sp>
        <p:nvSpPr>
          <p:cNvPr id="12" name="Text 8"/>
          <p:cNvSpPr/>
          <p:nvPr/>
        </p:nvSpPr>
        <p:spPr>
          <a:xfrm>
            <a:off x="4743450" y="3025378"/>
            <a:ext cx="292974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74151"/>
                </a:solidFill>
              </a:rPr>
              <a:t>Demerson Sampaio</a:t>
            </a:r>
            <a:endParaRPr lang="en-US" sz="834" dirty="0"/>
          </a:p>
        </p:txBody>
      </p:sp>
      <p:sp>
        <p:nvSpPr>
          <p:cNvPr id="13" name="Text 9"/>
          <p:cNvSpPr/>
          <p:nvPr/>
        </p:nvSpPr>
        <p:spPr>
          <a:xfrm>
            <a:off x="4743450" y="3196828"/>
            <a:ext cx="292974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74151"/>
                </a:solidFill>
              </a:rPr>
              <a:t>Josué Serra</a:t>
            </a:r>
            <a:endParaRPr lang="en-US" sz="834" dirty="0"/>
          </a:p>
        </p:txBody>
      </p:sp>
      <p:sp>
        <p:nvSpPr>
          <p:cNvPr id="14" name="Text 10"/>
          <p:cNvSpPr/>
          <p:nvPr/>
        </p:nvSpPr>
        <p:spPr>
          <a:xfrm>
            <a:off x="4743450" y="3368278"/>
            <a:ext cx="292974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74151"/>
                </a:solidFill>
              </a:rPr>
              <a:t>Rian Assis</a:t>
            </a:r>
            <a:endParaRPr lang="en-US" sz="834" dirty="0"/>
          </a:p>
        </p:txBody>
      </p:sp>
      <p:sp>
        <p:nvSpPr>
          <p:cNvPr id="15" name="Text 11"/>
          <p:cNvSpPr/>
          <p:nvPr/>
        </p:nvSpPr>
        <p:spPr>
          <a:xfrm>
            <a:off x="4743450" y="3539728"/>
            <a:ext cx="292974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74151"/>
                </a:solidFill>
              </a:rPr>
              <a:t>Sabrina Oliveira</a:t>
            </a:r>
            <a:endParaRPr lang="en-US" sz="83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77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808" b="1" dirty="0">
                <a:solidFill>
                  <a:srgbClr val="C44848"/>
                </a:solidFill>
              </a:rPr>
              <a:t>Machine Learning com precisão acima de 98%
alcança R² de 0,9814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342900" y="1300163"/>
            <a:ext cx="4143375" cy="1400175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5" name="Shape 2"/>
          <p:cNvSpPr/>
          <p:nvPr/>
        </p:nvSpPr>
        <p:spPr>
          <a:xfrm>
            <a:off x="342900" y="1300163"/>
            <a:ext cx="28575" cy="1400175"/>
          </a:xfrm>
          <a:prstGeom prst="rect">
            <a:avLst/>
          </a:prstGeom>
          <a:solidFill>
            <a:srgbClr val="C44848"/>
          </a:solidFill>
          <a:ln/>
        </p:spPr>
      </p:sp>
      <p:sp>
        <p:nvSpPr>
          <p:cNvPr id="6" name="Text 3"/>
          <p:cNvSpPr/>
          <p:nvPr/>
        </p:nvSpPr>
        <p:spPr>
          <a:xfrm>
            <a:off x="514350" y="1471613"/>
            <a:ext cx="38004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Insight Principal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514350" y="1728788"/>
            <a:ext cx="380047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O modelo Random Forest alcançou desempenho excepcional, explicando 98,14% da variância na geração de energia solar, com erro médio absoluto de apenas 0,0536 MW.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42900" y="2928938"/>
            <a:ext cx="41433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21211"/>
                </a:solidFill>
              </a:rPr>
              <a:t>Abordagem Técnica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514350" y="3328988"/>
            <a:ext cx="314941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Algoritmos Ensemble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514350" y="3529013"/>
            <a:ext cx="314941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</a:rPr>
              <a:t>Random Forest e Gradient Boosting para máxima robustez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514350" y="3814763"/>
            <a:ext cx="253541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Features Temporais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514350" y="4014788"/>
            <a:ext cx="253541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</a:rPr>
              <a:t>Hora, dia, mês, dia da semana e fim de semana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514350" y="4300538"/>
            <a:ext cx="266593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Validação Rigorosa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514350" y="4500563"/>
            <a:ext cx="266593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</a:rPr>
              <a:t>Teste em dados independentes com 336 registros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514350" y="4786313"/>
            <a:ext cx="25340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Lógica Fuzzy Complementar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514350" y="4986338"/>
            <a:ext cx="25340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</a:rPr>
              <a:t>Classificação interpretável de eficiência térmica</a:t>
            </a:r>
            <a:endParaRPr lang="en-US" sz="834" dirty="0"/>
          </a:p>
        </p:txBody>
      </p:sp>
      <p:sp>
        <p:nvSpPr>
          <p:cNvPr id="17" name="Shape 14"/>
          <p:cNvSpPr/>
          <p:nvPr/>
        </p:nvSpPr>
        <p:spPr>
          <a:xfrm>
            <a:off x="4657725" y="1300163"/>
            <a:ext cx="2014538" cy="102870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8" name="Shape 15"/>
          <p:cNvSpPr/>
          <p:nvPr/>
        </p:nvSpPr>
        <p:spPr>
          <a:xfrm>
            <a:off x="4657725" y="1300163"/>
            <a:ext cx="28575" cy="1028700"/>
          </a:xfrm>
          <a:prstGeom prst="rect">
            <a:avLst/>
          </a:prstGeom>
          <a:solidFill>
            <a:srgbClr val="C44848"/>
          </a:solidFill>
          <a:ln/>
        </p:spPr>
      </p:sp>
      <p:sp>
        <p:nvSpPr>
          <p:cNvPr id="19" name="Text 16"/>
          <p:cNvSpPr/>
          <p:nvPr/>
        </p:nvSpPr>
        <p:spPr>
          <a:xfrm>
            <a:off x="4829175" y="1471613"/>
            <a:ext cx="167163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08" b="1" dirty="0">
                <a:solidFill>
                  <a:srgbClr val="C44848"/>
                </a:solidFill>
              </a:rPr>
              <a:t>0,9814</a:t>
            </a:r>
            <a:endParaRPr lang="en-US" sz="1808" dirty="0"/>
          </a:p>
        </p:txBody>
      </p:sp>
      <p:sp>
        <p:nvSpPr>
          <p:cNvPr id="20" name="Text 17"/>
          <p:cNvSpPr/>
          <p:nvPr/>
        </p:nvSpPr>
        <p:spPr>
          <a:xfrm>
            <a:off x="4829175" y="1814513"/>
            <a:ext cx="16716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R² Score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4829175" y="2014538"/>
            <a:ext cx="167163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Variância Explicada</a:t>
            </a:r>
            <a:endParaRPr lang="en-US" sz="727" dirty="0"/>
          </a:p>
        </p:txBody>
      </p:sp>
      <p:sp>
        <p:nvSpPr>
          <p:cNvPr id="22" name="Shape 19"/>
          <p:cNvSpPr/>
          <p:nvPr/>
        </p:nvSpPr>
        <p:spPr>
          <a:xfrm>
            <a:off x="6786563" y="1300163"/>
            <a:ext cx="2014538" cy="102870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3" name="Shape 20"/>
          <p:cNvSpPr/>
          <p:nvPr/>
        </p:nvSpPr>
        <p:spPr>
          <a:xfrm>
            <a:off x="6786563" y="1300163"/>
            <a:ext cx="28575" cy="1028700"/>
          </a:xfrm>
          <a:prstGeom prst="rect">
            <a:avLst/>
          </a:prstGeom>
          <a:solidFill>
            <a:srgbClr val="C44848"/>
          </a:solidFill>
          <a:ln/>
        </p:spPr>
      </p:sp>
      <p:sp>
        <p:nvSpPr>
          <p:cNvPr id="24" name="Text 21"/>
          <p:cNvSpPr/>
          <p:nvPr/>
        </p:nvSpPr>
        <p:spPr>
          <a:xfrm>
            <a:off x="6958013" y="1471613"/>
            <a:ext cx="167163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08" b="1" dirty="0">
                <a:solidFill>
                  <a:srgbClr val="C44848"/>
                </a:solidFill>
              </a:rPr>
              <a:t>0,0536</a:t>
            </a:r>
            <a:endParaRPr lang="en-US" sz="1808" dirty="0"/>
          </a:p>
        </p:txBody>
      </p:sp>
      <p:sp>
        <p:nvSpPr>
          <p:cNvPr id="25" name="Text 22"/>
          <p:cNvSpPr/>
          <p:nvPr/>
        </p:nvSpPr>
        <p:spPr>
          <a:xfrm>
            <a:off x="6958013" y="1814513"/>
            <a:ext cx="16716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MAE (MW)</a:t>
            </a:r>
            <a:endParaRPr lang="en-US" sz="885" dirty="0"/>
          </a:p>
        </p:txBody>
      </p:sp>
      <p:sp>
        <p:nvSpPr>
          <p:cNvPr id="26" name="Text 23"/>
          <p:cNvSpPr/>
          <p:nvPr/>
        </p:nvSpPr>
        <p:spPr>
          <a:xfrm>
            <a:off x="6958013" y="2014538"/>
            <a:ext cx="167163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Erro Médio Absoluto</a:t>
            </a:r>
            <a:endParaRPr lang="en-US" sz="727" dirty="0"/>
          </a:p>
        </p:txBody>
      </p:sp>
      <p:sp>
        <p:nvSpPr>
          <p:cNvPr id="27" name="Shape 24"/>
          <p:cNvSpPr/>
          <p:nvPr/>
        </p:nvSpPr>
        <p:spPr>
          <a:xfrm>
            <a:off x="4657725" y="2443163"/>
            <a:ext cx="2014538" cy="102870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8" name="Shape 25"/>
          <p:cNvSpPr/>
          <p:nvPr/>
        </p:nvSpPr>
        <p:spPr>
          <a:xfrm>
            <a:off x="4657725" y="2443163"/>
            <a:ext cx="28575" cy="1028700"/>
          </a:xfrm>
          <a:prstGeom prst="rect">
            <a:avLst/>
          </a:prstGeom>
          <a:solidFill>
            <a:srgbClr val="C44848"/>
          </a:solidFill>
          <a:ln/>
        </p:spPr>
      </p:sp>
      <p:sp>
        <p:nvSpPr>
          <p:cNvPr id="29" name="Text 26"/>
          <p:cNvSpPr/>
          <p:nvPr/>
        </p:nvSpPr>
        <p:spPr>
          <a:xfrm>
            <a:off x="4829175" y="2614613"/>
            <a:ext cx="167163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08" b="1" dirty="0">
                <a:solidFill>
                  <a:srgbClr val="C44848"/>
                </a:solidFill>
              </a:rPr>
              <a:t>0,1297</a:t>
            </a:r>
            <a:endParaRPr lang="en-US" sz="1808" dirty="0"/>
          </a:p>
        </p:txBody>
      </p:sp>
      <p:sp>
        <p:nvSpPr>
          <p:cNvPr id="30" name="Text 27"/>
          <p:cNvSpPr/>
          <p:nvPr/>
        </p:nvSpPr>
        <p:spPr>
          <a:xfrm>
            <a:off x="4829175" y="2957513"/>
            <a:ext cx="16716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RMSE (MW)</a:t>
            </a:r>
            <a:endParaRPr lang="en-US" sz="885" dirty="0"/>
          </a:p>
        </p:txBody>
      </p:sp>
      <p:sp>
        <p:nvSpPr>
          <p:cNvPr id="31" name="Text 28"/>
          <p:cNvSpPr/>
          <p:nvPr/>
        </p:nvSpPr>
        <p:spPr>
          <a:xfrm>
            <a:off x="4829175" y="3157538"/>
            <a:ext cx="167163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Raiz do Erro Quadrático</a:t>
            </a:r>
            <a:endParaRPr lang="en-US" sz="727" dirty="0"/>
          </a:p>
        </p:txBody>
      </p:sp>
      <p:sp>
        <p:nvSpPr>
          <p:cNvPr id="32" name="Shape 29"/>
          <p:cNvSpPr/>
          <p:nvPr/>
        </p:nvSpPr>
        <p:spPr>
          <a:xfrm>
            <a:off x="6786563" y="2443163"/>
            <a:ext cx="2014538" cy="102870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33" name="Shape 30"/>
          <p:cNvSpPr/>
          <p:nvPr/>
        </p:nvSpPr>
        <p:spPr>
          <a:xfrm>
            <a:off x="6786563" y="2443163"/>
            <a:ext cx="28575" cy="1028700"/>
          </a:xfrm>
          <a:prstGeom prst="rect">
            <a:avLst/>
          </a:prstGeom>
          <a:solidFill>
            <a:srgbClr val="C44848"/>
          </a:solidFill>
          <a:ln/>
        </p:spPr>
      </p:sp>
      <p:sp>
        <p:nvSpPr>
          <p:cNvPr id="34" name="Text 31"/>
          <p:cNvSpPr/>
          <p:nvPr/>
        </p:nvSpPr>
        <p:spPr>
          <a:xfrm>
            <a:off x="6958013" y="2614613"/>
            <a:ext cx="167163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08" b="1" dirty="0">
                <a:solidFill>
                  <a:srgbClr val="C44848"/>
                </a:solidFill>
              </a:rPr>
              <a:t>7</a:t>
            </a:r>
            <a:endParaRPr lang="en-US" sz="1808" dirty="0"/>
          </a:p>
        </p:txBody>
      </p:sp>
      <p:sp>
        <p:nvSpPr>
          <p:cNvPr id="35" name="Text 32"/>
          <p:cNvSpPr/>
          <p:nvPr/>
        </p:nvSpPr>
        <p:spPr>
          <a:xfrm>
            <a:off x="6958013" y="2957513"/>
            <a:ext cx="16716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Features</a:t>
            </a:r>
            <a:endParaRPr lang="en-US" sz="885" dirty="0"/>
          </a:p>
        </p:txBody>
      </p:sp>
      <p:sp>
        <p:nvSpPr>
          <p:cNvPr id="36" name="Text 33"/>
          <p:cNvSpPr/>
          <p:nvPr/>
        </p:nvSpPr>
        <p:spPr>
          <a:xfrm>
            <a:off x="6958013" y="3157538"/>
            <a:ext cx="167163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Variáveis de Entrada</a:t>
            </a:r>
            <a:endParaRPr lang="en-US" sz="727" dirty="0"/>
          </a:p>
        </p:txBody>
      </p:sp>
      <p:sp>
        <p:nvSpPr>
          <p:cNvPr id="37" name="Shape 34"/>
          <p:cNvSpPr/>
          <p:nvPr/>
        </p:nvSpPr>
        <p:spPr>
          <a:xfrm>
            <a:off x="4657725" y="3643313"/>
            <a:ext cx="4143375" cy="1485900"/>
          </a:xfrm>
          <a:prstGeom prst="rect">
            <a:avLst/>
          </a:prstGeom>
          <a:solidFill>
            <a:srgbClr val="FFFBF5"/>
          </a:solidFill>
          <a:ln/>
        </p:spPr>
      </p:sp>
      <p:sp>
        <p:nvSpPr>
          <p:cNvPr id="38" name="Shape 35"/>
          <p:cNvSpPr/>
          <p:nvPr/>
        </p:nvSpPr>
        <p:spPr>
          <a:xfrm>
            <a:off x="4657725" y="3643313"/>
            <a:ext cx="28575" cy="1485900"/>
          </a:xfrm>
          <a:prstGeom prst="rect">
            <a:avLst/>
          </a:prstGeom>
          <a:solidFill>
            <a:srgbClr val="D6AE7E"/>
          </a:solidFill>
          <a:ln/>
        </p:spPr>
      </p:sp>
      <p:sp>
        <p:nvSpPr>
          <p:cNvPr id="39" name="Text 36"/>
          <p:cNvSpPr/>
          <p:nvPr/>
        </p:nvSpPr>
        <p:spPr>
          <a:xfrm>
            <a:off x="4829175" y="3814763"/>
            <a:ext cx="38004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21211"/>
                </a:solidFill>
              </a:rPr>
              <a:t>Dados de Treinamento</a:t>
            </a:r>
            <a:endParaRPr lang="en-US" sz="885" dirty="0"/>
          </a:p>
        </p:txBody>
      </p:sp>
      <p:sp>
        <p:nvSpPr>
          <p:cNvPr id="40" name="Text 37"/>
          <p:cNvSpPr/>
          <p:nvPr/>
        </p:nvSpPr>
        <p:spPr>
          <a:xfrm>
            <a:off x="4829175" y="4107656"/>
            <a:ext cx="10779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000000"/>
                </a:solidFill>
              </a:rPr>
              <a:t>✓</a:t>
            </a:r>
            <a:endParaRPr lang="en-US" sz="834" dirty="0"/>
          </a:p>
        </p:txBody>
      </p:sp>
      <p:sp>
        <p:nvSpPr>
          <p:cNvPr id="41" name="Text 38"/>
          <p:cNvSpPr/>
          <p:nvPr/>
        </p:nvSpPr>
        <p:spPr>
          <a:xfrm>
            <a:off x="4936973" y="4107656"/>
            <a:ext cx="88367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23.352 registros</a:t>
            </a:r>
            <a:endParaRPr lang="en-US" sz="784" dirty="0"/>
          </a:p>
        </p:txBody>
      </p:sp>
      <p:sp>
        <p:nvSpPr>
          <p:cNvPr id="42" name="Text 39"/>
          <p:cNvSpPr/>
          <p:nvPr/>
        </p:nvSpPr>
        <p:spPr>
          <a:xfrm>
            <a:off x="5820649" y="4107656"/>
            <a:ext cx="86149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000000"/>
                </a:solidFill>
              </a:rPr>
              <a:t>de treinamento</a:t>
            </a:r>
            <a:endParaRPr lang="en-US" sz="834" dirty="0"/>
          </a:p>
        </p:txBody>
      </p:sp>
      <p:sp>
        <p:nvSpPr>
          <p:cNvPr id="43" name="Text 40"/>
          <p:cNvSpPr/>
          <p:nvPr/>
        </p:nvSpPr>
        <p:spPr>
          <a:xfrm>
            <a:off x="4829175" y="4336256"/>
            <a:ext cx="10779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000000"/>
                </a:solidFill>
              </a:rPr>
              <a:t>✓</a:t>
            </a:r>
            <a:endParaRPr lang="en-US" sz="834" dirty="0"/>
          </a:p>
        </p:txBody>
      </p:sp>
      <p:sp>
        <p:nvSpPr>
          <p:cNvPr id="44" name="Text 41"/>
          <p:cNvSpPr/>
          <p:nvPr/>
        </p:nvSpPr>
        <p:spPr>
          <a:xfrm>
            <a:off x="4936973" y="4336256"/>
            <a:ext cx="72101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336 registros</a:t>
            </a:r>
            <a:endParaRPr lang="en-US" sz="784" dirty="0"/>
          </a:p>
        </p:txBody>
      </p:sp>
      <p:sp>
        <p:nvSpPr>
          <p:cNvPr id="45" name="Text 42"/>
          <p:cNvSpPr/>
          <p:nvPr/>
        </p:nvSpPr>
        <p:spPr>
          <a:xfrm>
            <a:off x="5657990" y="4336256"/>
            <a:ext cx="46040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000000"/>
                </a:solidFill>
              </a:rPr>
              <a:t>de teste</a:t>
            </a:r>
            <a:endParaRPr lang="en-US" sz="834" dirty="0"/>
          </a:p>
        </p:txBody>
      </p:sp>
      <p:sp>
        <p:nvSpPr>
          <p:cNvPr id="46" name="Text 43"/>
          <p:cNvSpPr/>
          <p:nvPr/>
        </p:nvSpPr>
        <p:spPr>
          <a:xfrm>
            <a:off x="4829175" y="4564856"/>
            <a:ext cx="10779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000000"/>
                </a:solidFill>
              </a:rPr>
              <a:t>✓</a:t>
            </a:r>
            <a:endParaRPr lang="en-US" sz="834" dirty="0"/>
          </a:p>
        </p:txBody>
      </p:sp>
      <p:sp>
        <p:nvSpPr>
          <p:cNvPr id="47" name="Text 44"/>
          <p:cNvSpPr/>
          <p:nvPr/>
        </p:nvSpPr>
        <p:spPr>
          <a:xfrm>
            <a:off x="4936973" y="4564856"/>
            <a:ext cx="43205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Período</a:t>
            </a:r>
            <a:endParaRPr lang="en-US" sz="784" dirty="0"/>
          </a:p>
        </p:txBody>
      </p:sp>
      <p:sp>
        <p:nvSpPr>
          <p:cNvPr id="48" name="Text 45"/>
          <p:cNvSpPr/>
          <p:nvPr/>
        </p:nvSpPr>
        <p:spPr>
          <a:xfrm>
            <a:off x="5369030" y="4564856"/>
            <a:ext cx="62019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000000"/>
                </a:solidFill>
              </a:rPr>
              <a:t>: 2017-2020</a:t>
            </a:r>
            <a:endParaRPr lang="en-US" sz="834" dirty="0"/>
          </a:p>
        </p:txBody>
      </p:sp>
      <p:sp>
        <p:nvSpPr>
          <p:cNvPr id="49" name="Text 46"/>
          <p:cNvSpPr/>
          <p:nvPr/>
        </p:nvSpPr>
        <p:spPr>
          <a:xfrm>
            <a:off x="4829175" y="4793456"/>
            <a:ext cx="10779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000000"/>
                </a:solidFill>
              </a:rPr>
              <a:t>✓</a:t>
            </a:r>
            <a:endParaRPr lang="en-US" sz="834" dirty="0"/>
          </a:p>
        </p:txBody>
      </p:sp>
      <p:sp>
        <p:nvSpPr>
          <p:cNvPr id="50" name="Text 47"/>
          <p:cNvSpPr/>
          <p:nvPr/>
        </p:nvSpPr>
        <p:spPr>
          <a:xfrm>
            <a:off x="4936973" y="4793456"/>
            <a:ext cx="120701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Sem valores ausentes</a:t>
            </a:r>
            <a:endParaRPr lang="en-US" sz="784" dirty="0"/>
          </a:p>
        </p:txBody>
      </p:sp>
      <p:sp>
        <p:nvSpPr>
          <p:cNvPr id="51" name="Text 48"/>
          <p:cNvSpPr/>
          <p:nvPr/>
        </p:nvSpPr>
        <p:spPr>
          <a:xfrm>
            <a:off x="6143988" y="4793456"/>
            <a:ext cx="92584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000000"/>
                </a:solidFill>
              </a:rPr>
              <a:t>após tratamento</a:t>
            </a:r>
            <a:endParaRPr lang="en-US" sz="83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808" b="1" dirty="0">
                <a:solidFill>
                  <a:srgbClr val="C44848"/>
                </a:solidFill>
              </a:rPr>
              <a:t>Arquitetura do sistema integra predição, classificação
e recomendações inteligentes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514350" y="1128713"/>
            <a:ext cx="447198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Fluxo de Processamento do Sistema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514350" y="1443038"/>
            <a:ext cx="4471988" cy="350044"/>
          </a:xfrm>
          <a:prstGeom prst="rect">
            <a:avLst/>
          </a:prstGeom>
          <a:solidFill>
            <a:srgbClr val="F9F9F9"/>
          </a:solidFill>
          <a:ln w="18288">
            <a:solidFill>
              <a:srgbClr val="6B728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14350" y="1443038"/>
            <a:ext cx="4471988" cy="350044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Dados Climáticos e Operacionais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514350" y="1821656"/>
            <a:ext cx="447198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69" dirty="0">
                <a:solidFill>
                  <a:srgbClr val="D6AE7E"/>
                </a:solidFill>
              </a:rPr>
              <a:t>↓</a:t>
            </a:r>
            <a:endParaRPr lang="en-US" sz="1269" dirty="0"/>
          </a:p>
        </p:txBody>
      </p:sp>
      <p:sp>
        <p:nvSpPr>
          <p:cNvPr id="8" name="Shape 5"/>
          <p:cNvSpPr/>
          <p:nvPr/>
        </p:nvSpPr>
        <p:spPr>
          <a:xfrm>
            <a:off x="514350" y="2135981"/>
            <a:ext cx="4471988" cy="350044"/>
          </a:xfrm>
          <a:prstGeom prst="rect">
            <a:avLst/>
          </a:prstGeom>
          <a:solidFill>
            <a:srgbClr val="F9F9F9"/>
          </a:solidFill>
          <a:ln w="18288">
            <a:solidFill>
              <a:srgbClr val="D6AE7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4350" y="2135981"/>
            <a:ext cx="4471988" cy="350044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Pré-processamento e Engenharia de Features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514350" y="2514600"/>
            <a:ext cx="447198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69" dirty="0">
                <a:solidFill>
                  <a:srgbClr val="D6AE7E"/>
                </a:solidFill>
              </a:rPr>
              <a:t>↓</a:t>
            </a:r>
            <a:endParaRPr lang="en-US" sz="1269" dirty="0"/>
          </a:p>
        </p:txBody>
      </p:sp>
      <p:sp>
        <p:nvSpPr>
          <p:cNvPr id="11" name="Shape 8"/>
          <p:cNvSpPr/>
          <p:nvPr/>
        </p:nvSpPr>
        <p:spPr>
          <a:xfrm>
            <a:off x="514350" y="2828925"/>
            <a:ext cx="2178844" cy="500063"/>
          </a:xfrm>
          <a:prstGeom prst="rect">
            <a:avLst/>
          </a:prstGeom>
          <a:solidFill>
            <a:srgbClr val="F9F9F9"/>
          </a:solidFill>
          <a:ln w="18288">
            <a:solidFill>
              <a:srgbClr val="C4484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4350" y="2828925"/>
            <a:ext cx="2178844" cy="500063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Módulo 1
Predição de Geração</a:t>
            </a:r>
            <a:endParaRPr lang="en-US" sz="683" dirty="0"/>
          </a:p>
        </p:txBody>
      </p:sp>
      <p:sp>
        <p:nvSpPr>
          <p:cNvPr id="13" name="Shape 10"/>
          <p:cNvSpPr/>
          <p:nvPr/>
        </p:nvSpPr>
        <p:spPr>
          <a:xfrm>
            <a:off x="2807494" y="2828925"/>
            <a:ext cx="2178844" cy="500063"/>
          </a:xfrm>
          <a:prstGeom prst="rect">
            <a:avLst/>
          </a:prstGeom>
          <a:solidFill>
            <a:srgbClr val="F9F9F9"/>
          </a:solidFill>
          <a:ln w="18288">
            <a:solidFill>
              <a:srgbClr val="8B5C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807494" y="2828925"/>
            <a:ext cx="2178844" cy="500063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Lógica Fuzzy
Classificação de Eficiência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514350" y="3357563"/>
            <a:ext cx="447198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69" dirty="0">
                <a:solidFill>
                  <a:srgbClr val="D6AE7E"/>
                </a:solidFill>
              </a:rPr>
              <a:t>↓</a:t>
            </a:r>
            <a:endParaRPr lang="en-US" sz="1269" dirty="0"/>
          </a:p>
        </p:txBody>
      </p:sp>
      <p:sp>
        <p:nvSpPr>
          <p:cNvPr id="16" name="Shape 13"/>
          <p:cNvSpPr/>
          <p:nvPr/>
        </p:nvSpPr>
        <p:spPr>
          <a:xfrm>
            <a:off x="514350" y="3671888"/>
            <a:ext cx="4471988" cy="350044"/>
          </a:xfrm>
          <a:prstGeom prst="rect">
            <a:avLst/>
          </a:prstGeom>
          <a:solidFill>
            <a:srgbClr val="F9F9F9"/>
          </a:solidFill>
          <a:ln w="18288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4350" y="3671888"/>
            <a:ext cx="4471988" cy="350044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Módulo 2: Sistema de Recomendações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514350" y="4050506"/>
            <a:ext cx="447198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69" dirty="0">
                <a:solidFill>
                  <a:srgbClr val="D6AE7E"/>
                </a:solidFill>
              </a:rPr>
              <a:t>↓</a:t>
            </a:r>
            <a:endParaRPr lang="en-US" sz="1269" dirty="0"/>
          </a:p>
        </p:txBody>
      </p:sp>
      <p:sp>
        <p:nvSpPr>
          <p:cNvPr id="19" name="Shape 16"/>
          <p:cNvSpPr/>
          <p:nvPr/>
        </p:nvSpPr>
        <p:spPr>
          <a:xfrm>
            <a:off x="514350" y="4364831"/>
            <a:ext cx="4471988" cy="350044"/>
          </a:xfrm>
          <a:prstGeom prst="rect">
            <a:avLst/>
          </a:prstGeom>
          <a:solidFill>
            <a:srgbClr val="F9F9F9"/>
          </a:solidFill>
          <a:ln w="18288">
            <a:solidFill>
              <a:srgbClr val="D6AE7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4350" y="4364831"/>
            <a:ext cx="4471988" cy="350044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Decisões Operacionais Otimizadas</a:t>
            </a:r>
            <a:endParaRPr lang="en-US" sz="683" dirty="0"/>
          </a:p>
        </p:txBody>
      </p:sp>
      <p:sp>
        <p:nvSpPr>
          <p:cNvPr id="21" name="Shape 18"/>
          <p:cNvSpPr/>
          <p:nvPr/>
        </p:nvSpPr>
        <p:spPr>
          <a:xfrm>
            <a:off x="5386388" y="1128713"/>
            <a:ext cx="3471863" cy="1057275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2" name="Shape 19"/>
          <p:cNvSpPr/>
          <p:nvPr/>
        </p:nvSpPr>
        <p:spPr>
          <a:xfrm>
            <a:off x="5386388" y="1128713"/>
            <a:ext cx="28575" cy="1057275"/>
          </a:xfrm>
          <a:prstGeom prst="rect">
            <a:avLst/>
          </a:prstGeom>
          <a:solidFill>
            <a:srgbClr val="C44848"/>
          </a:solidFill>
          <a:ln/>
        </p:spPr>
      </p:sp>
      <p:sp>
        <p:nvSpPr>
          <p:cNvPr id="23" name="Text 20"/>
          <p:cNvSpPr/>
          <p:nvPr/>
        </p:nvSpPr>
        <p:spPr>
          <a:xfrm>
            <a:off x="5500688" y="1243013"/>
            <a:ext cx="324326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Insight Principal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5500688" y="1471613"/>
            <a:ext cx="3243263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O sistema combina três pilares fundamentais para fornecer uma solução completa de gestão de energia solar.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493544" y="2357438"/>
            <a:ext cx="336470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Módulo 1: Predição</a:t>
            </a:r>
            <a:endParaRPr lang="en-US" sz="885" dirty="0"/>
          </a:p>
        </p:txBody>
      </p:sp>
      <p:sp>
        <p:nvSpPr>
          <p:cNvPr id="26" name="Text 23"/>
          <p:cNvSpPr/>
          <p:nvPr/>
        </p:nvSpPr>
        <p:spPr>
          <a:xfrm>
            <a:off x="5493544" y="2557463"/>
            <a:ext cx="336470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000000"/>
                </a:solidFill>
              </a:rPr>
              <a:t>Random Forest, Gradient Boosting e Grid Search para otimização de hiperparâmetros</a:t>
            </a:r>
            <a:endParaRPr lang="en-US" sz="727" dirty="0"/>
          </a:p>
        </p:txBody>
      </p:sp>
      <p:sp>
        <p:nvSpPr>
          <p:cNvPr id="27" name="Text 24"/>
          <p:cNvSpPr/>
          <p:nvPr/>
        </p:nvSpPr>
        <p:spPr>
          <a:xfrm>
            <a:off x="5493544" y="2986088"/>
            <a:ext cx="336470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Lógica Fuzzy</a:t>
            </a:r>
            <a:endParaRPr lang="en-US" sz="885" dirty="0"/>
          </a:p>
        </p:txBody>
      </p:sp>
      <p:sp>
        <p:nvSpPr>
          <p:cNvPr id="28" name="Text 25"/>
          <p:cNvSpPr/>
          <p:nvPr/>
        </p:nvSpPr>
        <p:spPr>
          <a:xfrm>
            <a:off x="5493544" y="3186113"/>
            <a:ext cx="336470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000000"/>
                </a:solidFill>
              </a:rPr>
              <a:t>Classificação interpretável de eficiência dos painéis solares</a:t>
            </a:r>
            <a:endParaRPr lang="en-US" sz="727" dirty="0"/>
          </a:p>
        </p:txBody>
      </p:sp>
      <p:sp>
        <p:nvSpPr>
          <p:cNvPr id="29" name="Text 26"/>
          <p:cNvSpPr/>
          <p:nvPr/>
        </p:nvSpPr>
        <p:spPr>
          <a:xfrm>
            <a:off x="5493544" y="3471863"/>
            <a:ext cx="336470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Módulo 2: Recomendações</a:t>
            </a:r>
            <a:endParaRPr lang="en-US" sz="885" dirty="0"/>
          </a:p>
        </p:txBody>
      </p:sp>
      <p:sp>
        <p:nvSpPr>
          <p:cNvPr id="30" name="Text 27"/>
          <p:cNvSpPr/>
          <p:nvPr/>
        </p:nvSpPr>
        <p:spPr>
          <a:xfrm>
            <a:off x="5493544" y="3671888"/>
            <a:ext cx="336470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000000"/>
                </a:solidFill>
              </a:rPr>
              <a:t>Armazenamento, venda, economia e uso otimizado de energia</a:t>
            </a:r>
            <a:endParaRPr lang="en-US" sz="727" dirty="0"/>
          </a:p>
        </p:txBody>
      </p:sp>
      <p:sp>
        <p:nvSpPr>
          <p:cNvPr id="31" name="Text 28"/>
          <p:cNvSpPr/>
          <p:nvPr/>
        </p:nvSpPr>
        <p:spPr>
          <a:xfrm>
            <a:off x="5493544" y="3957638"/>
            <a:ext cx="336470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Integração Completa</a:t>
            </a:r>
            <a:endParaRPr lang="en-US" sz="885" dirty="0"/>
          </a:p>
        </p:txBody>
      </p:sp>
      <p:sp>
        <p:nvSpPr>
          <p:cNvPr id="32" name="Text 29"/>
          <p:cNvSpPr/>
          <p:nvPr/>
        </p:nvSpPr>
        <p:spPr>
          <a:xfrm>
            <a:off x="5493544" y="4157663"/>
            <a:ext cx="336470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000000"/>
                </a:solidFill>
              </a:rPr>
              <a:t>Decisões estratégicas baseadas em predições precisas</a:t>
            </a:r>
            <a:endParaRPr lang="en-US" sz="727" dirty="0"/>
          </a:p>
        </p:txBody>
      </p:sp>
      <p:sp>
        <p:nvSpPr>
          <p:cNvPr id="33" name="Text 30"/>
          <p:cNvSpPr/>
          <p:nvPr/>
        </p:nvSpPr>
        <p:spPr>
          <a:xfrm>
            <a:off x="5386388" y="4443413"/>
            <a:ext cx="347186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Tecnologias Utilizadas:</a:t>
            </a:r>
            <a:endParaRPr lang="en-US" sz="885" dirty="0"/>
          </a:p>
        </p:txBody>
      </p:sp>
      <p:sp>
        <p:nvSpPr>
          <p:cNvPr id="34" name="Text 31"/>
          <p:cNvSpPr/>
          <p:nvPr/>
        </p:nvSpPr>
        <p:spPr>
          <a:xfrm>
            <a:off x="5557838" y="4672013"/>
            <a:ext cx="153590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000000"/>
                </a:solidFill>
              </a:rPr>
              <a:t>Scikit-Learn</a:t>
            </a:r>
            <a:endParaRPr lang="en-US" sz="727" dirty="0"/>
          </a:p>
        </p:txBody>
      </p:sp>
      <p:sp>
        <p:nvSpPr>
          <p:cNvPr id="35" name="Text 32"/>
          <p:cNvSpPr/>
          <p:nvPr/>
        </p:nvSpPr>
        <p:spPr>
          <a:xfrm>
            <a:off x="5557838" y="4814888"/>
            <a:ext cx="153590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000000"/>
                </a:solidFill>
              </a:rPr>
              <a:t>Scikit-Fuzzy</a:t>
            </a:r>
            <a:endParaRPr lang="en-US" sz="727" dirty="0"/>
          </a:p>
        </p:txBody>
      </p:sp>
      <p:sp>
        <p:nvSpPr>
          <p:cNvPr id="36" name="Text 33"/>
          <p:cNvSpPr/>
          <p:nvPr/>
        </p:nvSpPr>
        <p:spPr>
          <a:xfrm>
            <a:off x="7322344" y="4672013"/>
            <a:ext cx="153590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000000"/>
                </a:solidFill>
              </a:rPr>
              <a:t>Pandas &amp; NumPy</a:t>
            </a:r>
            <a:endParaRPr lang="en-US" sz="727" dirty="0"/>
          </a:p>
        </p:txBody>
      </p:sp>
      <p:sp>
        <p:nvSpPr>
          <p:cNvPr id="37" name="Text 34"/>
          <p:cNvSpPr/>
          <p:nvPr/>
        </p:nvSpPr>
        <p:spPr>
          <a:xfrm>
            <a:off x="7322344" y="4814888"/>
            <a:ext cx="153590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000000"/>
                </a:solidFill>
              </a:rPr>
              <a:t>Matplotlib &amp; Seaborn</a:t>
            </a:r>
            <a:endParaRPr lang="en-US" sz="72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808" b="1" dirty="0">
                <a:solidFill>
                  <a:srgbClr val="C44848"/>
                </a:solidFill>
              </a:rPr>
              <a:t>Quatro datasets distintos garantem robustez e validação
cruzada dos modelos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342900" y="1757363"/>
            <a:ext cx="65390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Dataset 1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342900" y="1957388"/>
            <a:ext cx="65390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Geração Solar</a:t>
            </a:r>
            <a:endParaRPr lang="en-US" sz="727" dirty="0"/>
          </a:p>
        </p:txBody>
      </p:sp>
      <p:sp>
        <p:nvSpPr>
          <p:cNvPr id="6" name="Text 3"/>
          <p:cNvSpPr/>
          <p:nvPr/>
        </p:nvSpPr>
        <p:spPr>
          <a:xfrm>
            <a:off x="2812712" y="1728788"/>
            <a:ext cx="77559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Dataset 2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2812712" y="1928813"/>
            <a:ext cx="77559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Plant1 Industrial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5404219" y="1728788"/>
            <a:ext cx="63319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Dataset 3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5404219" y="1928813"/>
            <a:ext cx="63319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NASA POWER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7853325" y="1728788"/>
            <a:ext cx="94771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Dataset 4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7853325" y="1928813"/>
            <a:ext cx="94771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Geração + Consumo</a:t>
            </a:r>
            <a:endParaRPr lang="en-US" sz="727" dirty="0"/>
          </a:p>
        </p:txBody>
      </p:sp>
      <p:sp>
        <p:nvSpPr>
          <p:cNvPr id="12" name="Shape 9"/>
          <p:cNvSpPr/>
          <p:nvPr/>
        </p:nvSpPr>
        <p:spPr>
          <a:xfrm>
            <a:off x="342900" y="2328863"/>
            <a:ext cx="4114800" cy="1085850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3" name="Shape 10"/>
          <p:cNvSpPr/>
          <p:nvPr/>
        </p:nvSpPr>
        <p:spPr>
          <a:xfrm>
            <a:off x="342900" y="2328863"/>
            <a:ext cx="28575" cy="1085850"/>
          </a:xfrm>
          <a:prstGeom prst="rect">
            <a:avLst/>
          </a:prstGeom>
          <a:solidFill>
            <a:srgbClr val="C44848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2443163"/>
            <a:ext cx="38862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Diversidade de Fontes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457200" y="2700338"/>
            <a:ext cx="388620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A qualidade das previsões depende diretamente da diversidade e representatividade dos dados, cobrindo diferentes períodos e resoluções temporais.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42900" y="3529013"/>
            <a:ext cx="4114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21211"/>
                </a:solidFill>
              </a:rPr>
              <a:t>Características Principais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542925" y="3871913"/>
            <a:ext cx="341169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Cobertura temporal de 5 anos para treinamento robusto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542925" y="4129088"/>
            <a:ext cx="269919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Validação externa com dados satelitais NASA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542925" y="4386263"/>
            <a:ext cx="335770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Integração de geração e consumo para recomendações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4686300" y="2328863"/>
            <a:ext cx="4114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21211"/>
                </a:solidFill>
              </a:rPr>
              <a:t>Detalhamento dos Datasets</a:t>
            </a:r>
            <a:endParaRPr lang="en-US" sz="1193" dirty="0"/>
          </a:p>
        </p:txBody>
      </p:sp>
      <p:sp>
        <p:nvSpPr>
          <p:cNvPr id="21" name="Shape 18"/>
          <p:cNvSpPr/>
          <p:nvPr/>
        </p:nvSpPr>
        <p:spPr>
          <a:xfrm>
            <a:off x="4686300" y="2671763"/>
            <a:ext cx="228600" cy="228600"/>
          </a:xfrm>
          <a:prstGeom prst="ellipse">
            <a:avLst/>
          </a:prstGeom>
          <a:solidFill>
            <a:srgbClr val="D6AE7E"/>
          </a:solidFill>
          <a:ln/>
        </p:spPr>
      </p:sp>
      <p:sp>
        <p:nvSpPr>
          <p:cNvPr id="22" name="Text 19"/>
          <p:cNvSpPr/>
          <p:nvPr/>
        </p:nvSpPr>
        <p:spPr>
          <a:xfrm>
            <a:off x="4686300" y="2671763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1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5000625" y="2671763"/>
            <a:ext cx="35603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Geração Solar (2015-2020)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5000625" y="2871788"/>
            <a:ext cx="35603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000000"/>
                </a:solidFill>
              </a:rPr>
              <a:t>46.704 registros de treino com irradiância, potência e temperatura</a:t>
            </a:r>
            <a:endParaRPr lang="en-US" sz="834" dirty="0"/>
          </a:p>
        </p:txBody>
      </p:sp>
      <p:sp>
        <p:nvSpPr>
          <p:cNvPr id="25" name="Shape 22"/>
          <p:cNvSpPr/>
          <p:nvPr/>
        </p:nvSpPr>
        <p:spPr>
          <a:xfrm>
            <a:off x="4686300" y="3128963"/>
            <a:ext cx="228600" cy="228600"/>
          </a:xfrm>
          <a:prstGeom prst="ellipse">
            <a:avLst/>
          </a:prstGeom>
          <a:solidFill>
            <a:srgbClr val="D6AE7E"/>
          </a:solidFill>
          <a:ln/>
        </p:spPr>
      </p:sp>
      <p:sp>
        <p:nvSpPr>
          <p:cNvPr id="26" name="Text 23"/>
          <p:cNvSpPr/>
          <p:nvPr/>
        </p:nvSpPr>
        <p:spPr>
          <a:xfrm>
            <a:off x="4686300" y="3128963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2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5000625" y="3128963"/>
            <a:ext cx="345380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Plant1 Industrial (34 dias)</a:t>
            </a:r>
            <a:endParaRPr lang="en-US" sz="885" dirty="0"/>
          </a:p>
        </p:txBody>
      </p:sp>
      <p:sp>
        <p:nvSpPr>
          <p:cNvPr id="28" name="Text 25"/>
          <p:cNvSpPr/>
          <p:nvPr/>
        </p:nvSpPr>
        <p:spPr>
          <a:xfrm>
            <a:off x="5000625" y="3328988"/>
            <a:ext cx="345380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000000"/>
                </a:solidFill>
              </a:rPr>
              <a:t>Validação em alta resolução temporal com dados reais de planta</a:t>
            </a:r>
            <a:endParaRPr lang="en-US" sz="834" dirty="0"/>
          </a:p>
        </p:txBody>
      </p:sp>
      <p:sp>
        <p:nvSpPr>
          <p:cNvPr id="29" name="Shape 26"/>
          <p:cNvSpPr/>
          <p:nvPr/>
        </p:nvSpPr>
        <p:spPr>
          <a:xfrm>
            <a:off x="4686300" y="3586163"/>
            <a:ext cx="228600" cy="228600"/>
          </a:xfrm>
          <a:prstGeom prst="ellipse">
            <a:avLst/>
          </a:prstGeom>
          <a:solidFill>
            <a:srgbClr val="D6AE7E"/>
          </a:solidFill>
          <a:ln/>
        </p:spPr>
      </p:sp>
      <p:sp>
        <p:nvSpPr>
          <p:cNvPr id="30" name="Text 27"/>
          <p:cNvSpPr/>
          <p:nvPr/>
        </p:nvSpPr>
        <p:spPr>
          <a:xfrm>
            <a:off x="4686300" y="3586163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3</a:t>
            </a:r>
            <a:endParaRPr lang="en-US" sz="784" dirty="0"/>
          </a:p>
        </p:txBody>
      </p:sp>
      <p:sp>
        <p:nvSpPr>
          <p:cNvPr id="31" name="Text 28"/>
          <p:cNvSpPr/>
          <p:nvPr/>
        </p:nvSpPr>
        <p:spPr>
          <a:xfrm>
            <a:off x="5000625" y="3586163"/>
            <a:ext cx="312748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NASA POWER (2022-2024)</a:t>
            </a:r>
            <a:endParaRPr lang="en-US" sz="885" dirty="0"/>
          </a:p>
        </p:txBody>
      </p:sp>
      <p:sp>
        <p:nvSpPr>
          <p:cNvPr id="32" name="Text 29"/>
          <p:cNvSpPr/>
          <p:nvPr/>
        </p:nvSpPr>
        <p:spPr>
          <a:xfrm>
            <a:off x="5000625" y="3786188"/>
            <a:ext cx="312748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000000"/>
                </a:solidFill>
              </a:rPr>
              <a:t>Validação externa com dados climáticos satelitais da NASA</a:t>
            </a:r>
            <a:endParaRPr lang="en-US" sz="834" dirty="0"/>
          </a:p>
        </p:txBody>
      </p:sp>
      <p:sp>
        <p:nvSpPr>
          <p:cNvPr id="33" name="Shape 30"/>
          <p:cNvSpPr/>
          <p:nvPr/>
        </p:nvSpPr>
        <p:spPr>
          <a:xfrm>
            <a:off x="4686300" y="4043363"/>
            <a:ext cx="228600" cy="228600"/>
          </a:xfrm>
          <a:prstGeom prst="ellipse">
            <a:avLst/>
          </a:prstGeom>
          <a:solidFill>
            <a:srgbClr val="D6AE7E"/>
          </a:solidFill>
          <a:ln/>
        </p:spPr>
      </p:sp>
      <p:sp>
        <p:nvSpPr>
          <p:cNvPr id="34" name="Text 31"/>
          <p:cNvSpPr/>
          <p:nvPr/>
        </p:nvSpPr>
        <p:spPr>
          <a:xfrm>
            <a:off x="4686300" y="4043363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4</a:t>
            </a:r>
            <a:endParaRPr lang="en-US" sz="784" dirty="0"/>
          </a:p>
        </p:txBody>
      </p:sp>
      <p:sp>
        <p:nvSpPr>
          <p:cNvPr id="35" name="Text 32"/>
          <p:cNvSpPr/>
          <p:nvPr/>
        </p:nvSpPr>
        <p:spPr>
          <a:xfrm>
            <a:off x="5000625" y="4043363"/>
            <a:ext cx="353163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Geração + Consumo (Variável)</a:t>
            </a:r>
            <a:endParaRPr lang="en-US" sz="885" dirty="0"/>
          </a:p>
        </p:txBody>
      </p:sp>
      <p:sp>
        <p:nvSpPr>
          <p:cNvPr id="36" name="Text 33"/>
          <p:cNvSpPr/>
          <p:nvPr/>
        </p:nvSpPr>
        <p:spPr>
          <a:xfrm>
            <a:off x="5000625" y="4243388"/>
            <a:ext cx="353163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000000"/>
                </a:solidFill>
              </a:rPr>
              <a:t>Integração de dados para sistema de recomendações inteligentes</a:t>
            </a:r>
            <a:endParaRPr lang="en-US" sz="8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292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808" b="1" dirty="0">
                <a:solidFill>
                  <a:srgbClr val="C44848"/>
                </a:solidFill>
              </a:rPr>
              <a:t>Pré-processamento rigoroso elimina 110 valores ausentes
e cria 5 features temporais</a:t>
            </a:r>
            <a:endParaRPr lang="en-US" sz="1808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1185863"/>
            <a:ext cx="5561409" cy="3429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134081" y="1185863"/>
            <a:ext cx="2667019" cy="1428750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6" name="Shape 2"/>
          <p:cNvSpPr/>
          <p:nvPr/>
        </p:nvSpPr>
        <p:spPr>
          <a:xfrm>
            <a:off x="6134081" y="1185863"/>
            <a:ext cx="28575" cy="1428750"/>
          </a:xfrm>
          <a:prstGeom prst="rect">
            <a:avLst/>
          </a:prstGeom>
          <a:solidFill>
            <a:srgbClr val="C44848"/>
          </a:solidFill>
          <a:ln/>
        </p:spPr>
      </p:sp>
      <p:sp>
        <p:nvSpPr>
          <p:cNvPr id="7" name="Text 3"/>
          <p:cNvSpPr/>
          <p:nvPr/>
        </p:nvSpPr>
        <p:spPr>
          <a:xfrm>
            <a:off x="6248381" y="1300163"/>
            <a:ext cx="243841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Insight Principal</a:t>
            </a:r>
            <a:endParaRPr lang="en-US" sz="885" dirty="0"/>
          </a:p>
        </p:txBody>
      </p:sp>
      <p:sp>
        <p:nvSpPr>
          <p:cNvPr id="8" name="Text 4"/>
          <p:cNvSpPr/>
          <p:nvPr/>
        </p:nvSpPr>
        <p:spPr>
          <a:xfrm>
            <a:off x="6248381" y="1500188"/>
            <a:ext cx="2438419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A preparação rigorosa dos dados garantiu qualidade máxima para treinamento, com integração temporal perfeita entre três fontes distintas.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134081" y="2700338"/>
            <a:ext cx="266701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C44848"/>
                </a:solidFill>
              </a:rPr>
              <a:t>110 valores</a:t>
            </a:r>
            <a:r>
              <a:rPr lang="en-US" sz="1050" dirty="0">
                <a:solidFill>
                  <a:srgbClr val="000000"/>
                </a:solidFill>
              </a:rPr>
              <a:t> ausentes tratados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6134081" y="2900363"/>
            <a:ext cx="266701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</a:rPr>
              <a:t>Interpolação linear preservou padrões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6134081" y="3157538"/>
            <a:ext cx="266701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C44848"/>
                </a:solidFill>
              </a:rPr>
              <a:t>23.352</a:t>
            </a:r>
            <a:r>
              <a:rPr lang="en-US" sz="1050" dirty="0">
                <a:solidFill>
                  <a:srgbClr val="000000"/>
                </a:solidFill>
              </a:rPr>
              <a:t> registros finais</a:t>
            </a:r>
            <a:endParaRPr lang="en-US" sz="987" dirty="0"/>
          </a:p>
        </p:txBody>
      </p:sp>
      <p:sp>
        <p:nvSpPr>
          <p:cNvPr id="12" name="Text 8"/>
          <p:cNvSpPr/>
          <p:nvPr/>
        </p:nvSpPr>
        <p:spPr>
          <a:xfrm>
            <a:off x="6134081" y="3357563"/>
            <a:ext cx="266701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</a:rPr>
              <a:t>De 03/11/2017 a 02/07/2020</a:t>
            </a:r>
            <a:endParaRPr lang="en-US" sz="942" dirty="0"/>
          </a:p>
        </p:txBody>
      </p:sp>
      <p:sp>
        <p:nvSpPr>
          <p:cNvPr id="13" name="Text 9"/>
          <p:cNvSpPr/>
          <p:nvPr/>
        </p:nvSpPr>
        <p:spPr>
          <a:xfrm>
            <a:off x="6134081" y="3614738"/>
            <a:ext cx="266701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C44848"/>
                </a:solidFill>
              </a:rPr>
              <a:t>5 features</a:t>
            </a:r>
            <a:r>
              <a:rPr lang="en-US" sz="1050" dirty="0">
                <a:solidFill>
                  <a:srgbClr val="000000"/>
                </a:solidFill>
              </a:rPr>
              <a:t> temporais criadas</a:t>
            </a:r>
            <a:endParaRPr lang="en-US" sz="987" dirty="0"/>
          </a:p>
        </p:txBody>
      </p:sp>
      <p:sp>
        <p:nvSpPr>
          <p:cNvPr id="14" name="Text 10"/>
          <p:cNvSpPr/>
          <p:nvPr/>
        </p:nvSpPr>
        <p:spPr>
          <a:xfrm>
            <a:off x="6134081" y="3814763"/>
            <a:ext cx="266701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</a:rPr>
              <a:t>Captura de padrões cíclicos naturais</a:t>
            </a:r>
            <a:endParaRPr lang="en-US" sz="942" dirty="0"/>
          </a:p>
        </p:txBody>
      </p:sp>
      <p:sp>
        <p:nvSpPr>
          <p:cNvPr id="15" name="Text 11"/>
          <p:cNvSpPr/>
          <p:nvPr/>
        </p:nvSpPr>
        <p:spPr>
          <a:xfrm>
            <a:off x="6134081" y="4100513"/>
            <a:ext cx="266701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Etapas de Processamento:</a:t>
            </a:r>
            <a:endParaRPr lang="en-US" sz="885" dirty="0"/>
          </a:p>
        </p:txBody>
      </p:sp>
      <p:sp>
        <p:nvSpPr>
          <p:cNvPr id="16" name="Text 12"/>
          <p:cNvSpPr/>
          <p:nvPr/>
        </p:nvSpPr>
        <p:spPr>
          <a:xfrm>
            <a:off x="6305531" y="4300538"/>
            <a:ext cx="249556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000000"/>
                </a:solidFill>
              </a:rPr>
              <a:t>Conversão de datas padronizada</a:t>
            </a:r>
            <a:endParaRPr lang="en-US" sz="834" dirty="0"/>
          </a:p>
        </p:txBody>
      </p:sp>
      <p:sp>
        <p:nvSpPr>
          <p:cNvPr id="17" name="Text 13"/>
          <p:cNvSpPr/>
          <p:nvPr/>
        </p:nvSpPr>
        <p:spPr>
          <a:xfrm>
            <a:off x="6305531" y="4471988"/>
            <a:ext cx="249556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000000"/>
                </a:solidFill>
              </a:rPr>
              <a:t>Merge de geração + clima + consumo</a:t>
            </a:r>
            <a:endParaRPr lang="en-US" sz="834" dirty="0"/>
          </a:p>
        </p:txBody>
      </p:sp>
      <p:sp>
        <p:nvSpPr>
          <p:cNvPr id="18" name="Text 14"/>
          <p:cNvSpPr/>
          <p:nvPr/>
        </p:nvSpPr>
        <p:spPr>
          <a:xfrm>
            <a:off x="6305531" y="4643438"/>
            <a:ext cx="24955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000000"/>
                </a:solidFill>
              </a:rPr>
              <a:t>Interpolação de valores ausentes + engenharia de features temporais</a:t>
            </a:r>
            <a:endParaRPr lang="en-US" sz="8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8" b="1" dirty="0">
                <a:solidFill>
                  <a:srgbClr val="C44848"/>
                </a:solidFill>
              </a:rPr>
              <a:t>Random Forest alcança R² de 0,9814 com erro mínimo</a:t>
            </a:r>
            <a:endParaRPr lang="en-US" sz="1808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942975"/>
            <a:ext cx="4114800" cy="21431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42900" y="3314700"/>
            <a:ext cx="4114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Métricas de Desempenho</a:t>
            </a:r>
            <a:endParaRPr lang="en-US" sz="1193" dirty="0"/>
          </a:p>
        </p:txBody>
      </p:sp>
      <p:sp>
        <p:nvSpPr>
          <p:cNvPr id="6" name="Text 2"/>
          <p:cNvSpPr/>
          <p:nvPr/>
        </p:nvSpPr>
        <p:spPr>
          <a:xfrm>
            <a:off x="342900" y="3657600"/>
            <a:ext cx="2687892" cy="321469"/>
          </a:xfrm>
          <a:prstGeom prst="rect">
            <a:avLst/>
          </a:prstGeom>
          <a:noFill/>
          <a:ln/>
        </p:spPr>
        <p:txBody>
          <a:bodyPr wrap="square" lIns="8509" tIns="68072" rIns="8509" bIns="68072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R² Score</a:t>
            </a:r>
            <a:endParaRPr lang="en-US" sz="885" dirty="0"/>
          </a:p>
        </p:txBody>
      </p:sp>
      <p:sp>
        <p:nvSpPr>
          <p:cNvPr id="7" name="Text 3"/>
          <p:cNvSpPr/>
          <p:nvPr/>
        </p:nvSpPr>
        <p:spPr>
          <a:xfrm>
            <a:off x="3030792" y="3657600"/>
            <a:ext cx="1426908" cy="321469"/>
          </a:xfrm>
          <a:prstGeom prst="rect">
            <a:avLst/>
          </a:prstGeom>
          <a:noFill/>
          <a:ln/>
        </p:spPr>
        <p:txBody>
          <a:bodyPr wrap="square" lIns="8509" tIns="68072" rIns="8509" bIns="68072" rtlCol="0" anchor="ctr">
            <a:spAutoFit/>
          </a:bodyPr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C44848"/>
                </a:solidFill>
              </a:rPr>
              <a:t>0,9814</a:t>
            </a:r>
            <a:endParaRPr lang="en-US" sz="885" dirty="0"/>
          </a:p>
        </p:txBody>
      </p:sp>
      <p:sp>
        <p:nvSpPr>
          <p:cNvPr id="8" name="Text 4"/>
          <p:cNvSpPr/>
          <p:nvPr/>
        </p:nvSpPr>
        <p:spPr>
          <a:xfrm>
            <a:off x="342900" y="3979069"/>
            <a:ext cx="2687892" cy="328613"/>
          </a:xfrm>
          <a:prstGeom prst="rect">
            <a:avLst/>
          </a:prstGeom>
          <a:noFill/>
          <a:ln/>
        </p:spPr>
        <p:txBody>
          <a:bodyPr wrap="square" lIns="8509" tIns="68072" rIns="8509" bIns="68072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MAE (MW)</a:t>
            </a:r>
            <a:endParaRPr lang="en-US" sz="885" dirty="0"/>
          </a:p>
        </p:txBody>
      </p:sp>
      <p:sp>
        <p:nvSpPr>
          <p:cNvPr id="9" name="Text 5"/>
          <p:cNvSpPr/>
          <p:nvPr/>
        </p:nvSpPr>
        <p:spPr>
          <a:xfrm>
            <a:off x="3030792" y="3979069"/>
            <a:ext cx="1426908" cy="328613"/>
          </a:xfrm>
          <a:prstGeom prst="rect">
            <a:avLst/>
          </a:prstGeom>
          <a:noFill/>
          <a:ln/>
        </p:spPr>
        <p:txBody>
          <a:bodyPr wrap="square" lIns="8509" tIns="68072" rIns="8509" bIns="68072" rtlCol="0" anchor="ctr">
            <a:spAutoFit/>
          </a:bodyPr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C44848"/>
                </a:solidFill>
              </a:rPr>
              <a:t>0,0536</a:t>
            </a:r>
            <a:endParaRPr lang="en-US" sz="885" dirty="0"/>
          </a:p>
        </p:txBody>
      </p:sp>
      <p:sp>
        <p:nvSpPr>
          <p:cNvPr id="10" name="Text 6"/>
          <p:cNvSpPr/>
          <p:nvPr/>
        </p:nvSpPr>
        <p:spPr>
          <a:xfrm>
            <a:off x="342900" y="4307681"/>
            <a:ext cx="2687892" cy="328613"/>
          </a:xfrm>
          <a:prstGeom prst="rect">
            <a:avLst/>
          </a:prstGeom>
          <a:noFill/>
          <a:ln/>
        </p:spPr>
        <p:txBody>
          <a:bodyPr wrap="square" lIns="8509" tIns="68072" rIns="8509" bIns="68072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RMSE (MW)</a:t>
            </a:r>
            <a:endParaRPr lang="en-US" sz="885" dirty="0"/>
          </a:p>
        </p:txBody>
      </p:sp>
      <p:sp>
        <p:nvSpPr>
          <p:cNvPr id="11" name="Text 7"/>
          <p:cNvSpPr/>
          <p:nvPr/>
        </p:nvSpPr>
        <p:spPr>
          <a:xfrm>
            <a:off x="3030792" y="4307681"/>
            <a:ext cx="1426908" cy="328613"/>
          </a:xfrm>
          <a:prstGeom prst="rect">
            <a:avLst/>
          </a:prstGeom>
          <a:noFill/>
          <a:ln/>
        </p:spPr>
        <p:txBody>
          <a:bodyPr wrap="square" lIns="8509" tIns="68072" rIns="8509" bIns="68072" rtlCol="0" anchor="ctr">
            <a:spAutoFit/>
          </a:bodyPr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C44848"/>
                </a:solidFill>
              </a:rPr>
              <a:t>0,1297</a:t>
            </a:r>
            <a:endParaRPr lang="en-US" sz="885" dirty="0"/>
          </a:p>
        </p:txBody>
      </p:sp>
      <p:sp>
        <p:nvSpPr>
          <p:cNvPr id="12" name="Text 8"/>
          <p:cNvSpPr/>
          <p:nvPr/>
        </p:nvSpPr>
        <p:spPr>
          <a:xfrm>
            <a:off x="342900" y="4636294"/>
            <a:ext cx="2687892" cy="321469"/>
          </a:xfrm>
          <a:prstGeom prst="rect">
            <a:avLst/>
          </a:prstGeom>
          <a:noFill/>
          <a:ln/>
        </p:spPr>
        <p:txBody>
          <a:bodyPr wrap="square" lIns="8509" tIns="68072" rIns="8509" bIns="68072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Estimadores</a:t>
            </a:r>
            <a:endParaRPr lang="en-US" sz="885" dirty="0"/>
          </a:p>
        </p:txBody>
      </p:sp>
      <p:sp>
        <p:nvSpPr>
          <p:cNvPr id="13" name="Text 9"/>
          <p:cNvSpPr/>
          <p:nvPr/>
        </p:nvSpPr>
        <p:spPr>
          <a:xfrm>
            <a:off x="3030792" y="4636294"/>
            <a:ext cx="1426908" cy="321469"/>
          </a:xfrm>
          <a:prstGeom prst="rect">
            <a:avLst/>
          </a:prstGeom>
          <a:noFill/>
          <a:ln/>
        </p:spPr>
        <p:txBody>
          <a:bodyPr wrap="square" lIns="8509" tIns="68072" rIns="8509" bIns="68072" rtlCol="0" anchor="ctr">
            <a:spAutoFit/>
          </a:bodyPr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C44848"/>
                </a:solidFill>
              </a:rPr>
              <a:t>100</a:t>
            </a:r>
            <a:endParaRPr lang="en-US" sz="885" dirty="0"/>
          </a:p>
        </p:txBody>
      </p:sp>
      <p:sp>
        <p:nvSpPr>
          <p:cNvPr id="14" name="Text 10"/>
          <p:cNvSpPr/>
          <p:nvPr/>
        </p:nvSpPr>
        <p:spPr>
          <a:xfrm>
            <a:off x="4686300" y="942975"/>
            <a:ext cx="4114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Comparação de Modelos</a:t>
            </a:r>
            <a:endParaRPr lang="en-US" sz="1193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1285875"/>
            <a:ext cx="4114800" cy="2143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86300" y="3657600"/>
            <a:ext cx="4114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Características do Modelo</a:t>
            </a:r>
            <a:endParaRPr lang="en-US" sz="1193" dirty="0"/>
          </a:p>
        </p:txBody>
      </p:sp>
      <p:sp>
        <p:nvSpPr>
          <p:cNvPr id="17" name="Text 12"/>
          <p:cNvSpPr/>
          <p:nvPr/>
        </p:nvSpPr>
        <p:spPr>
          <a:xfrm>
            <a:off x="4686300" y="4000500"/>
            <a:ext cx="8784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C44848"/>
                </a:solidFill>
              </a:rPr>
              <a:t>✓</a:t>
            </a:r>
            <a:endParaRPr lang="en-US" sz="942" dirty="0"/>
          </a:p>
        </p:txBody>
      </p:sp>
      <p:sp>
        <p:nvSpPr>
          <p:cNvPr id="18" name="Text 13"/>
          <p:cNvSpPr/>
          <p:nvPr/>
        </p:nvSpPr>
        <p:spPr>
          <a:xfrm>
            <a:off x="4859871" y="4000500"/>
            <a:ext cx="358928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Normalização:</a:t>
            </a:r>
            <a:r>
              <a:rPr lang="en-US" sz="942" dirty="0">
                <a:solidFill>
                  <a:srgbClr val="000000"/>
                </a:solidFill>
              </a:rPr>
              <a:t> StandardScaler aplicado a todas as features</a:t>
            </a:r>
            <a:endParaRPr lang="en-US" sz="885" dirty="0"/>
          </a:p>
        </p:txBody>
      </p:sp>
      <p:sp>
        <p:nvSpPr>
          <p:cNvPr id="19" name="Text 14"/>
          <p:cNvSpPr/>
          <p:nvPr/>
        </p:nvSpPr>
        <p:spPr>
          <a:xfrm>
            <a:off x="4686300" y="4286250"/>
            <a:ext cx="8784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C44848"/>
                </a:solidFill>
              </a:rPr>
              <a:t>✓</a:t>
            </a:r>
            <a:endParaRPr lang="en-US" sz="942" dirty="0"/>
          </a:p>
        </p:txBody>
      </p:sp>
      <p:sp>
        <p:nvSpPr>
          <p:cNvPr id="20" name="Text 15"/>
          <p:cNvSpPr/>
          <p:nvPr/>
        </p:nvSpPr>
        <p:spPr>
          <a:xfrm>
            <a:off x="4859871" y="4286250"/>
            <a:ext cx="299250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Validação:</a:t>
            </a:r>
            <a:r>
              <a:rPr lang="en-US" sz="942" dirty="0">
                <a:solidFill>
                  <a:srgbClr val="000000"/>
                </a:solidFill>
              </a:rPr>
              <a:t> Teste em 336 registros independentes</a:t>
            </a:r>
            <a:endParaRPr lang="en-US" sz="885" dirty="0"/>
          </a:p>
        </p:txBody>
      </p:sp>
      <p:sp>
        <p:nvSpPr>
          <p:cNvPr id="21" name="Text 16"/>
          <p:cNvSpPr/>
          <p:nvPr/>
        </p:nvSpPr>
        <p:spPr>
          <a:xfrm>
            <a:off x="4686300" y="4572000"/>
            <a:ext cx="8784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C44848"/>
                </a:solidFill>
              </a:rPr>
              <a:t>✓</a:t>
            </a:r>
            <a:endParaRPr lang="en-US" sz="942" dirty="0"/>
          </a:p>
        </p:txBody>
      </p:sp>
      <p:sp>
        <p:nvSpPr>
          <p:cNvPr id="22" name="Text 17"/>
          <p:cNvSpPr/>
          <p:nvPr/>
        </p:nvSpPr>
        <p:spPr>
          <a:xfrm>
            <a:off x="4859871" y="4572000"/>
            <a:ext cx="378925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Sem overfitting:</a:t>
            </a:r>
            <a:r>
              <a:rPr lang="en-US" sz="942" dirty="0">
                <a:solidFill>
                  <a:srgbClr val="000000"/>
                </a:solidFill>
              </a:rPr>
              <a:t> Desempenho consistente entre treino e teste</a:t>
            </a:r>
            <a:endParaRPr lang="en-US" sz="885" dirty="0"/>
          </a:p>
        </p:txBody>
      </p:sp>
      <p:sp>
        <p:nvSpPr>
          <p:cNvPr id="23" name="Text 18"/>
          <p:cNvSpPr/>
          <p:nvPr/>
        </p:nvSpPr>
        <p:spPr>
          <a:xfrm>
            <a:off x="4686300" y="4857750"/>
            <a:ext cx="8784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C44848"/>
                </a:solidFill>
              </a:rPr>
              <a:t>✓</a:t>
            </a:r>
            <a:endParaRPr lang="en-US" sz="942" dirty="0"/>
          </a:p>
        </p:txBody>
      </p:sp>
      <p:sp>
        <p:nvSpPr>
          <p:cNvPr id="24" name="Text 19"/>
          <p:cNvSpPr/>
          <p:nvPr/>
        </p:nvSpPr>
        <p:spPr>
          <a:xfrm>
            <a:off x="4859871" y="4857750"/>
            <a:ext cx="36762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Robustez:</a:t>
            </a:r>
            <a:r>
              <a:rPr lang="en-US" sz="942" dirty="0">
                <a:solidFill>
                  <a:srgbClr val="000000"/>
                </a:solidFill>
              </a:rPr>
              <a:t> Tratamento de valores ausentes com interpolação</a:t>
            </a:r>
            <a:endParaRPr lang="en-US" sz="88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8" b="1" dirty="0">
                <a:solidFill>
                  <a:srgbClr val="C44848"/>
                </a:solidFill>
              </a:rPr>
              <a:t>Irradiância explica 98,6% da variação na geração solar</a:t>
            </a:r>
            <a:endParaRPr lang="en-US" sz="1808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942975"/>
            <a:ext cx="4838105" cy="2857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10191" y="942975"/>
            <a:ext cx="339090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Análise de Importância</a:t>
            </a:r>
            <a:endParaRPr lang="en-US" sz="1193" dirty="0"/>
          </a:p>
        </p:txBody>
      </p:sp>
      <p:sp>
        <p:nvSpPr>
          <p:cNvPr id="6" name="Shape 2"/>
          <p:cNvSpPr/>
          <p:nvPr/>
        </p:nvSpPr>
        <p:spPr>
          <a:xfrm>
            <a:off x="5410191" y="1343025"/>
            <a:ext cx="3390909" cy="771525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7" name="Shape 3"/>
          <p:cNvSpPr/>
          <p:nvPr/>
        </p:nvSpPr>
        <p:spPr>
          <a:xfrm>
            <a:off x="5410191" y="1343025"/>
            <a:ext cx="28575" cy="771525"/>
          </a:xfrm>
          <a:prstGeom prst="rect">
            <a:avLst/>
          </a:prstGeom>
          <a:solidFill>
            <a:srgbClr val="C44848"/>
          </a:solidFill>
          <a:ln/>
        </p:spPr>
      </p:sp>
      <p:sp>
        <p:nvSpPr>
          <p:cNvPr id="8" name="Text 4"/>
          <p:cNvSpPr/>
          <p:nvPr/>
        </p:nvSpPr>
        <p:spPr>
          <a:xfrm>
            <a:off x="5495916" y="1428750"/>
            <a:ext cx="321945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C44848"/>
                </a:solidFill>
              </a:rPr>
              <a:t>Irradiância (98,6%)</a:t>
            </a:r>
            <a:endParaRPr lang="en-US" sz="885" dirty="0"/>
          </a:p>
        </p:txBody>
      </p:sp>
      <p:sp>
        <p:nvSpPr>
          <p:cNvPr id="9" name="Text 5"/>
          <p:cNvSpPr/>
          <p:nvPr/>
        </p:nvSpPr>
        <p:spPr>
          <a:xfrm>
            <a:off x="5495916" y="1685925"/>
            <a:ext cx="32194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74151"/>
                </a:solidFill>
              </a:rPr>
              <a:t>Fator dominante na predição. A intensidade da radiação solar é o principal determinante da geração de energia.</a:t>
            </a:r>
            <a:endParaRPr lang="en-US" sz="834" dirty="0"/>
          </a:p>
        </p:txBody>
      </p:sp>
      <p:sp>
        <p:nvSpPr>
          <p:cNvPr id="10" name="Shape 6"/>
          <p:cNvSpPr/>
          <p:nvPr/>
        </p:nvSpPr>
        <p:spPr>
          <a:xfrm>
            <a:off x="5410191" y="2200275"/>
            <a:ext cx="3390909" cy="771525"/>
          </a:xfrm>
          <a:prstGeom prst="rect">
            <a:avLst/>
          </a:prstGeom>
          <a:solidFill>
            <a:srgbClr val="FFFBF5"/>
          </a:solidFill>
          <a:ln/>
        </p:spPr>
      </p:sp>
      <p:sp>
        <p:nvSpPr>
          <p:cNvPr id="11" name="Shape 7"/>
          <p:cNvSpPr/>
          <p:nvPr/>
        </p:nvSpPr>
        <p:spPr>
          <a:xfrm>
            <a:off x="5410191" y="2200275"/>
            <a:ext cx="28575" cy="771525"/>
          </a:xfrm>
          <a:prstGeom prst="rect">
            <a:avLst/>
          </a:prstGeom>
          <a:solidFill>
            <a:srgbClr val="D6AE7E"/>
          </a:solidFill>
          <a:ln/>
        </p:spPr>
      </p:sp>
      <p:sp>
        <p:nvSpPr>
          <p:cNvPr id="12" name="Text 8"/>
          <p:cNvSpPr/>
          <p:nvPr/>
        </p:nvSpPr>
        <p:spPr>
          <a:xfrm>
            <a:off x="5495916" y="2286000"/>
            <a:ext cx="321945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C44848"/>
                </a:solidFill>
              </a:rPr>
              <a:t>Temperatura do Painel (0,46%)</a:t>
            </a:r>
            <a:endParaRPr lang="en-US" sz="885" dirty="0"/>
          </a:p>
        </p:txBody>
      </p:sp>
      <p:sp>
        <p:nvSpPr>
          <p:cNvPr id="13" name="Text 9"/>
          <p:cNvSpPr/>
          <p:nvPr/>
        </p:nvSpPr>
        <p:spPr>
          <a:xfrm>
            <a:off x="5495916" y="2543175"/>
            <a:ext cx="32194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74151"/>
                </a:solidFill>
              </a:rPr>
              <a:t>Efeito secundário na eficiência do painel. Temperatura elevada reduz ligeiramente a eficiência.</a:t>
            </a:r>
            <a:endParaRPr lang="en-US" sz="834" dirty="0"/>
          </a:p>
        </p:txBody>
      </p:sp>
      <p:sp>
        <p:nvSpPr>
          <p:cNvPr id="14" name="Shape 10"/>
          <p:cNvSpPr/>
          <p:nvPr/>
        </p:nvSpPr>
        <p:spPr>
          <a:xfrm>
            <a:off x="5410191" y="3057525"/>
            <a:ext cx="3390909" cy="771525"/>
          </a:xfrm>
          <a:prstGeom prst="rect">
            <a:avLst/>
          </a:prstGeom>
          <a:solidFill>
            <a:srgbClr val="FFFBF5"/>
          </a:solidFill>
          <a:ln/>
        </p:spPr>
      </p:sp>
      <p:sp>
        <p:nvSpPr>
          <p:cNvPr id="15" name="Shape 11"/>
          <p:cNvSpPr/>
          <p:nvPr/>
        </p:nvSpPr>
        <p:spPr>
          <a:xfrm>
            <a:off x="5410191" y="3057525"/>
            <a:ext cx="28575" cy="771525"/>
          </a:xfrm>
          <a:prstGeom prst="rect">
            <a:avLst/>
          </a:prstGeom>
          <a:solidFill>
            <a:srgbClr val="D6AE7E"/>
          </a:solidFill>
          <a:ln/>
        </p:spPr>
      </p:sp>
      <p:sp>
        <p:nvSpPr>
          <p:cNvPr id="16" name="Text 12"/>
          <p:cNvSpPr/>
          <p:nvPr/>
        </p:nvSpPr>
        <p:spPr>
          <a:xfrm>
            <a:off x="5495916" y="3143250"/>
            <a:ext cx="321945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C44848"/>
                </a:solidFill>
              </a:rPr>
              <a:t>Features Temporais (1,39%)</a:t>
            </a:r>
            <a:endParaRPr lang="en-US" sz="885" dirty="0"/>
          </a:p>
        </p:txBody>
      </p:sp>
      <p:sp>
        <p:nvSpPr>
          <p:cNvPr id="17" name="Text 13"/>
          <p:cNvSpPr/>
          <p:nvPr/>
        </p:nvSpPr>
        <p:spPr>
          <a:xfrm>
            <a:off x="5495916" y="3400425"/>
            <a:ext cx="32194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74151"/>
                </a:solidFill>
              </a:rPr>
              <a:t>Hora, mês, dia da semana e fim de semana combinados. Capturam padrões sazonais e diários.</a:t>
            </a:r>
            <a:endParaRPr lang="en-US" sz="834" dirty="0"/>
          </a:p>
        </p:txBody>
      </p:sp>
      <p:sp>
        <p:nvSpPr>
          <p:cNvPr id="18" name="Shape 14"/>
          <p:cNvSpPr/>
          <p:nvPr/>
        </p:nvSpPr>
        <p:spPr>
          <a:xfrm>
            <a:off x="5410191" y="4000500"/>
            <a:ext cx="3390909" cy="1143000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9" name="Shape 15"/>
          <p:cNvSpPr/>
          <p:nvPr/>
        </p:nvSpPr>
        <p:spPr>
          <a:xfrm>
            <a:off x="5410191" y="4000500"/>
            <a:ext cx="28575" cy="1143000"/>
          </a:xfrm>
          <a:prstGeom prst="rect">
            <a:avLst/>
          </a:prstGeom>
          <a:solidFill>
            <a:srgbClr val="C44848"/>
          </a:solidFill>
          <a:ln/>
        </p:spPr>
      </p:sp>
      <p:sp>
        <p:nvSpPr>
          <p:cNvPr id="20" name="Text 16"/>
          <p:cNvSpPr/>
          <p:nvPr/>
        </p:nvSpPr>
        <p:spPr>
          <a:xfrm>
            <a:off x="5524491" y="4114800"/>
            <a:ext cx="316230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Implicações Práticas</a:t>
            </a:r>
            <a:endParaRPr lang="en-US" sz="885" dirty="0"/>
          </a:p>
        </p:txBody>
      </p:sp>
      <p:sp>
        <p:nvSpPr>
          <p:cNvPr id="21" name="Text 17"/>
          <p:cNvSpPr/>
          <p:nvPr/>
        </p:nvSpPr>
        <p:spPr>
          <a:xfrm>
            <a:off x="5524491" y="4400550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44848"/>
                </a:solidFill>
              </a:rPr>
              <a:t>→</a:t>
            </a:r>
            <a:endParaRPr lang="en-US" sz="834" dirty="0"/>
          </a:p>
        </p:txBody>
      </p:sp>
      <p:sp>
        <p:nvSpPr>
          <p:cNvPr id="22" name="Text 18"/>
          <p:cNvSpPr/>
          <p:nvPr/>
        </p:nvSpPr>
        <p:spPr>
          <a:xfrm>
            <a:off x="5724516" y="4400550"/>
            <a:ext cx="268309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000000"/>
                </a:solidFill>
              </a:rPr>
              <a:t>Investir em dados de irradiância de alta qualidade</a:t>
            </a:r>
            <a:endParaRPr lang="en-US" sz="834" dirty="0"/>
          </a:p>
        </p:txBody>
      </p:sp>
      <p:sp>
        <p:nvSpPr>
          <p:cNvPr id="23" name="Text 19"/>
          <p:cNvSpPr/>
          <p:nvPr/>
        </p:nvSpPr>
        <p:spPr>
          <a:xfrm>
            <a:off x="5524491" y="4629150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44848"/>
                </a:solidFill>
              </a:rPr>
              <a:t>→</a:t>
            </a:r>
            <a:endParaRPr lang="en-US" sz="834" dirty="0"/>
          </a:p>
        </p:txBody>
      </p:sp>
      <p:sp>
        <p:nvSpPr>
          <p:cNvPr id="24" name="Text 20"/>
          <p:cNvSpPr/>
          <p:nvPr/>
        </p:nvSpPr>
        <p:spPr>
          <a:xfrm>
            <a:off x="5724516" y="4629150"/>
            <a:ext cx="229972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000000"/>
                </a:solidFill>
              </a:rPr>
              <a:t>Monitoramento contínuo da radiação solar</a:t>
            </a:r>
            <a:endParaRPr lang="en-US" sz="834" dirty="0"/>
          </a:p>
        </p:txBody>
      </p:sp>
      <p:sp>
        <p:nvSpPr>
          <p:cNvPr id="25" name="Text 21"/>
          <p:cNvSpPr/>
          <p:nvPr/>
        </p:nvSpPr>
        <p:spPr>
          <a:xfrm>
            <a:off x="5524491" y="4857750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44848"/>
                </a:solidFill>
              </a:rPr>
              <a:t>→</a:t>
            </a:r>
            <a:endParaRPr lang="en-US" sz="834" dirty="0"/>
          </a:p>
        </p:txBody>
      </p:sp>
      <p:sp>
        <p:nvSpPr>
          <p:cNvPr id="26" name="Text 22"/>
          <p:cNvSpPr/>
          <p:nvPr/>
        </p:nvSpPr>
        <p:spPr>
          <a:xfrm>
            <a:off x="5724516" y="4857750"/>
            <a:ext cx="18906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000000"/>
                </a:solidFill>
              </a:rPr>
              <a:t>Considerar fatores climáticos locais</a:t>
            </a:r>
            <a:endParaRPr lang="en-US" sz="83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578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808" b="1" dirty="0">
                <a:solidFill>
                  <a:srgbClr val="C44848"/>
                </a:solidFill>
              </a:rPr>
              <a:t>Lógica Fuzzy classifica eficiência em três categorias
com regras interpretáveis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342900" y="1300163"/>
            <a:ext cx="2705081" cy="1514475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5" name="Shape 2"/>
          <p:cNvSpPr/>
          <p:nvPr/>
        </p:nvSpPr>
        <p:spPr>
          <a:xfrm>
            <a:off x="342900" y="1300163"/>
            <a:ext cx="28575" cy="1514475"/>
          </a:xfrm>
          <a:prstGeom prst="rect">
            <a:avLst/>
          </a:prstGeom>
          <a:solidFill>
            <a:srgbClr val="C44848"/>
          </a:solidFill>
          <a:ln/>
        </p:spPr>
      </p:sp>
      <p:sp>
        <p:nvSpPr>
          <p:cNvPr id="6" name="Text 3"/>
          <p:cNvSpPr/>
          <p:nvPr/>
        </p:nvSpPr>
        <p:spPr>
          <a:xfrm>
            <a:off x="485775" y="1443038"/>
            <a:ext cx="24193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Insight Principal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485775" y="1671638"/>
            <a:ext cx="2419331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O sistema fuzzy fornece classificações qualitativas interpretáveis, complementando as predições numéricas do Machine Learning.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42900" y="3043238"/>
            <a:ext cx="27050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21211"/>
                </a:solidFill>
              </a:rPr>
              <a:t>Vantagens da Abordagem Fuzzy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462837" y="3386138"/>
            <a:ext cx="258514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Interpretabilidade: Regras compreensíveis por operadores não técnicos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463172" y="3871913"/>
            <a:ext cx="258481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Flexibilidade: Transições suaves entre categorias sem fronteiras rígidas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462083" y="4357688"/>
            <a:ext cx="258589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Conhecimento especializado: Incorpora expertise de engenheiros solares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460632" y="4843463"/>
            <a:ext cx="258734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Complementaridade: Trabalha em conjunto com predições numéricas do ML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3219431" y="1300163"/>
            <a:ext cx="55816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21211"/>
                </a:solidFill>
              </a:rPr>
              <a:t>Sistema de Inferência Fuzzy</a:t>
            </a:r>
            <a:endParaRPr lang="en-US" sz="987" dirty="0"/>
          </a:p>
        </p:txBody>
      </p:sp>
      <p:sp>
        <p:nvSpPr>
          <p:cNvPr id="14" name="Shape 11"/>
          <p:cNvSpPr/>
          <p:nvPr/>
        </p:nvSpPr>
        <p:spPr>
          <a:xfrm>
            <a:off x="3219431" y="1985963"/>
            <a:ext cx="1047731" cy="542925"/>
          </a:xfrm>
          <a:prstGeom prst="rect">
            <a:avLst/>
          </a:prstGeom>
          <a:solidFill>
            <a:srgbClr val="F9FAFB"/>
          </a:solidFill>
          <a:ln w="18288">
            <a:solidFill>
              <a:srgbClr val="6B72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76581" y="2000250"/>
            <a:ext cx="9334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Irradiância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3276581" y="2171700"/>
            <a:ext cx="93343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21" dirty="0">
                <a:solidFill>
                  <a:srgbClr val="000000"/>
                </a:solidFill>
              </a:rPr>
              <a:t>Baixa: 0-300 W/m²</a:t>
            </a:r>
            <a:endParaRPr lang="en-US" sz="621" dirty="0"/>
          </a:p>
        </p:txBody>
      </p:sp>
      <p:sp>
        <p:nvSpPr>
          <p:cNvPr id="17" name="Text 14"/>
          <p:cNvSpPr/>
          <p:nvPr/>
        </p:nvSpPr>
        <p:spPr>
          <a:xfrm>
            <a:off x="3276581" y="2286000"/>
            <a:ext cx="93343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21" dirty="0">
                <a:solidFill>
                  <a:srgbClr val="000000"/>
                </a:solidFill>
              </a:rPr>
              <a:t>Média: 200-600 W/m²</a:t>
            </a:r>
            <a:endParaRPr lang="en-US" sz="621" dirty="0"/>
          </a:p>
        </p:txBody>
      </p:sp>
      <p:sp>
        <p:nvSpPr>
          <p:cNvPr id="18" name="Text 15"/>
          <p:cNvSpPr/>
          <p:nvPr/>
        </p:nvSpPr>
        <p:spPr>
          <a:xfrm>
            <a:off x="3276581" y="2400300"/>
            <a:ext cx="93343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21" dirty="0">
                <a:solidFill>
                  <a:srgbClr val="000000"/>
                </a:solidFill>
              </a:rPr>
              <a:t>Alta: 500-1200 W/m²</a:t>
            </a:r>
            <a:endParaRPr lang="en-US" sz="621" dirty="0"/>
          </a:p>
        </p:txBody>
      </p:sp>
      <p:sp>
        <p:nvSpPr>
          <p:cNvPr id="19" name="Shape 16"/>
          <p:cNvSpPr/>
          <p:nvPr/>
        </p:nvSpPr>
        <p:spPr>
          <a:xfrm>
            <a:off x="3219431" y="2571750"/>
            <a:ext cx="1047731" cy="542925"/>
          </a:xfrm>
          <a:prstGeom prst="rect">
            <a:avLst/>
          </a:prstGeom>
          <a:solidFill>
            <a:srgbClr val="F9FAFB"/>
          </a:solidFill>
          <a:ln w="18288">
            <a:solidFill>
              <a:srgbClr val="6B728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76581" y="2586038"/>
            <a:ext cx="9334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Temperatura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3276581" y="2757488"/>
            <a:ext cx="93343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21" dirty="0">
                <a:solidFill>
                  <a:srgbClr val="000000"/>
                </a:solidFill>
              </a:rPr>
              <a:t>Fria: -10 a 15°C</a:t>
            </a:r>
            <a:endParaRPr lang="en-US" sz="621" dirty="0"/>
          </a:p>
        </p:txBody>
      </p:sp>
      <p:sp>
        <p:nvSpPr>
          <p:cNvPr id="22" name="Text 19"/>
          <p:cNvSpPr/>
          <p:nvPr/>
        </p:nvSpPr>
        <p:spPr>
          <a:xfrm>
            <a:off x="3276581" y="2871788"/>
            <a:ext cx="93343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21" dirty="0">
                <a:solidFill>
                  <a:srgbClr val="000000"/>
                </a:solidFill>
              </a:rPr>
              <a:t>Normal: 10-30°C</a:t>
            </a:r>
            <a:endParaRPr lang="en-US" sz="621" dirty="0"/>
          </a:p>
        </p:txBody>
      </p:sp>
      <p:sp>
        <p:nvSpPr>
          <p:cNvPr id="23" name="Text 20"/>
          <p:cNvSpPr/>
          <p:nvPr/>
        </p:nvSpPr>
        <p:spPr>
          <a:xfrm>
            <a:off x="3276581" y="2986088"/>
            <a:ext cx="93343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21" dirty="0">
                <a:solidFill>
                  <a:srgbClr val="000000"/>
                </a:solidFill>
              </a:rPr>
              <a:t>Quente: 25-60°C</a:t>
            </a:r>
            <a:endParaRPr lang="en-US" sz="621" dirty="0"/>
          </a:p>
        </p:txBody>
      </p:sp>
      <p:sp>
        <p:nvSpPr>
          <p:cNvPr id="24" name="Text 21"/>
          <p:cNvSpPr/>
          <p:nvPr/>
        </p:nvSpPr>
        <p:spPr>
          <a:xfrm>
            <a:off x="4805316" y="2450306"/>
            <a:ext cx="1428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D6AE7E"/>
                </a:solidFill>
              </a:rPr>
              <a:t>→</a:t>
            </a:r>
            <a:endParaRPr lang="en-US" sz="987" dirty="0"/>
          </a:p>
        </p:txBody>
      </p:sp>
      <p:sp>
        <p:nvSpPr>
          <p:cNvPr id="25" name="Text 22"/>
          <p:cNvSpPr/>
          <p:nvPr/>
        </p:nvSpPr>
        <p:spPr>
          <a:xfrm>
            <a:off x="5486372" y="1557338"/>
            <a:ext cx="21812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Regras Fuzzy</a:t>
            </a:r>
            <a:endParaRPr lang="en-US" sz="784" dirty="0"/>
          </a:p>
        </p:txBody>
      </p:sp>
      <p:sp>
        <p:nvSpPr>
          <p:cNvPr id="26" name="Shape 23"/>
          <p:cNvSpPr/>
          <p:nvPr/>
        </p:nvSpPr>
        <p:spPr>
          <a:xfrm>
            <a:off x="5486372" y="1785938"/>
            <a:ext cx="2181244" cy="400050"/>
          </a:xfrm>
          <a:prstGeom prst="rect">
            <a:avLst/>
          </a:prstGeom>
          <a:solidFill>
            <a:srgbClr val="FFFBF5"/>
          </a:solidFill>
          <a:ln w="18288">
            <a:solidFill>
              <a:srgbClr val="D6AE7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543522" y="1785938"/>
            <a:ext cx="206694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Regra 1</a:t>
            </a:r>
            <a:endParaRPr lang="en-US" sz="683" dirty="0"/>
          </a:p>
        </p:txBody>
      </p:sp>
      <p:sp>
        <p:nvSpPr>
          <p:cNvPr id="28" name="Text 25"/>
          <p:cNvSpPr/>
          <p:nvPr/>
        </p:nvSpPr>
        <p:spPr>
          <a:xfrm>
            <a:off x="5543522" y="1928813"/>
            <a:ext cx="2066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21" dirty="0">
                <a:solidFill>
                  <a:srgbClr val="000000"/>
                </a:solidFill>
              </a:rPr>
              <a:t>SE irradiância ALTA E temperatura NORMAL
→ Eficiência ALTA</a:t>
            </a:r>
            <a:endParaRPr lang="en-US" sz="621" dirty="0"/>
          </a:p>
        </p:txBody>
      </p:sp>
      <p:sp>
        <p:nvSpPr>
          <p:cNvPr id="29" name="Shape 26"/>
          <p:cNvSpPr/>
          <p:nvPr/>
        </p:nvSpPr>
        <p:spPr>
          <a:xfrm>
            <a:off x="5486372" y="2214563"/>
            <a:ext cx="2181244" cy="400050"/>
          </a:xfrm>
          <a:prstGeom prst="rect">
            <a:avLst/>
          </a:prstGeom>
          <a:solidFill>
            <a:srgbClr val="FFFBF5"/>
          </a:solidFill>
          <a:ln w="18288">
            <a:solidFill>
              <a:srgbClr val="D6AE7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43522" y="2214563"/>
            <a:ext cx="206694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Regra 2</a:t>
            </a:r>
            <a:endParaRPr lang="en-US" sz="683" dirty="0"/>
          </a:p>
        </p:txBody>
      </p:sp>
      <p:sp>
        <p:nvSpPr>
          <p:cNvPr id="31" name="Text 28"/>
          <p:cNvSpPr/>
          <p:nvPr/>
        </p:nvSpPr>
        <p:spPr>
          <a:xfrm>
            <a:off x="5543522" y="2357438"/>
            <a:ext cx="2066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21" dirty="0">
                <a:solidFill>
                  <a:srgbClr val="000000"/>
                </a:solidFill>
              </a:rPr>
              <a:t>SE irradiância ALTA E temperatura QUENTE
→ Eficiência MÉDIA</a:t>
            </a:r>
            <a:endParaRPr lang="en-US" sz="621" dirty="0"/>
          </a:p>
        </p:txBody>
      </p:sp>
      <p:sp>
        <p:nvSpPr>
          <p:cNvPr id="32" name="Shape 29"/>
          <p:cNvSpPr/>
          <p:nvPr/>
        </p:nvSpPr>
        <p:spPr>
          <a:xfrm>
            <a:off x="5486372" y="2643188"/>
            <a:ext cx="2181244" cy="400050"/>
          </a:xfrm>
          <a:prstGeom prst="rect">
            <a:avLst/>
          </a:prstGeom>
          <a:solidFill>
            <a:srgbClr val="FFFBF5"/>
          </a:solidFill>
          <a:ln w="18288">
            <a:solidFill>
              <a:srgbClr val="D6AE7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543522" y="2643188"/>
            <a:ext cx="206694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Regra 3</a:t>
            </a:r>
            <a:endParaRPr lang="en-US" sz="683" dirty="0"/>
          </a:p>
        </p:txBody>
      </p:sp>
      <p:sp>
        <p:nvSpPr>
          <p:cNvPr id="34" name="Text 31"/>
          <p:cNvSpPr/>
          <p:nvPr/>
        </p:nvSpPr>
        <p:spPr>
          <a:xfrm>
            <a:off x="5543522" y="2786063"/>
            <a:ext cx="2066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21" dirty="0">
                <a:solidFill>
                  <a:srgbClr val="000000"/>
                </a:solidFill>
              </a:rPr>
              <a:t>SE irradiância MÉDIA E temperatura NORMAL
→ Eficiência MÉDIA</a:t>
            </a:r>
            <a:endParaRPr lang="en-US" sz="621" dirty="0"/>
          </a:p>
        </p:txBody>
      </p:sp>
      <p:sp>
        <p:nvSpPr>
          <p:cNvPr id="35" name="Shape 32"/>
          <p:cNvSpPr/>
          <p:nvPr/>
        </p:nvSpPr>
        <p:spPr>
          <a:xfrm>
            <a:off x="5486372" y="3071813"/>
            <a:ext cx="2181244" cy="400050"/>
          </a:xfrm>
          <a:prstGeom prst="rect">
            <a:avLst/>
          </a:prstGeom>
          <a:solidFill>
            <a:srgbClr val="FFFBF5"/>
          </a:solidFill>
          <a:ln w="18288">
            <a:solidFill>
              <a:srgbClr val="D6AE7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543522" y="3071813"/>
            <a:ext cx="206694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Regra 4</a:t>
            </a:r>
            <a:endParaRPr lang="en-US" sz="683" dirty="0"/>
          </a:p>
        </p:txBody>
      </p:sp>
      <p:sp>
        <p:nvSpPr>
          <p:cNvPr id="37" name="Text 34"/>
          <p:cNvSpPr/>
          <p:nvPr/>
        </p:nvSpPr>
        <p:spPr>
          <a:xfrm>
            <a:off x="5543522" y="3214688"/>
            <a:ext cx="2066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21" dirty="0">
                <a:solidFill>
                  <a:srgbClr val="000000"/>
                </a:solidFill>
              </a:rPr>
              <a:t>SE irradiância BAIXA OU temperatura QUENTE
→ Eficiência BAIXA</a:t>
            </a:r>
            <a:endParaRPr lang="en-US" sz="621" dirty="0"/>
          </a:p>
        </p:txBody>
      </p:sp>
      <p:sp>
        <p:nvSpPr>
          <p:cNvPr id="38" name="Text 35"/>
          <p:cNvSpPr/>
          <p:nvPr/>
        </p:nvSpPr>
        <p:spPr>
          <a:xfrm>
            <a:off x="8205769" y="2393156"/>
            <a:ext cx="1428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D6AE7E"/>
                </a:solidFill>
              </a:rPr>
              <a:t>→</a:t>
            </a:r>
            <a:endParaRPr lang="en-US" sz="987" dirty="0"/>
          </a:p>
        </p:txBody>
      </p:sp>
      <p:sp>
        <p:nvSpPr>
          <p:cNvPr id="39" name="Shape 36"/>
          <p:cNvSpPr/>
          <p:nvPr/>
        </p:nvSpPr>
        <p:spPr>
          <a:xfrm>
            <a:off x="3219431" y="3529013"/>
            <a:ext cx="1047731" cy="628650"/>
          </a:xfrm>
          <a:prstGeom prst="rect">
            <a:avLst/>
          </a:prstGeom>
          <a:solidFill>
            <a:srgbClr val="FEF2F2"/>
          </a:solidFill>
          <a:ln w="18288">
            <a:solidFill>
              <a:srgbClr val="C4484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276581" y="3529013"/>
            <a:ext cx="9334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Eficiência</a:t>
            </a:r>
            <a:endParaRPr lang="en-US" sz="784" dirty="0"/>
          </a:p>
        </p:txBody>
      </p:sp>
      <p:sp>
        <p:nvSpPr>
          <p:cNvPr id="41" name="Text 38"/>
          <p:cNvSpPr/>
          <p:nvPr/>
        </p:nvSpPr>
        <p:spPr>
          <a:xfrm>
            <a:off x="3276581" y="3729038"/>
            <a:ext cx="93343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21" dirty="0">
                <a:solidFill>
                  <a:srgbClr val="000000"/>
                </a:solidFill>
              </a:rPr>
              <a:t>Baixa: 0-40%</a:t>
            </a:r>
            <a:endParaRPr lang="en-US" sz="621" dirty="0"/>
          </a:p>
        </p:txBody>
      </p:sp>
      <p:sp>
        <p:nvSpPr>
          <p:cNvPr id="42" name="Text 39"/>
          <p:cNvSpPr/>
          <p:nvPr/>
        </p:nvSpPr>
        <p:spPr>
          <a:xfrm>
            <a:off x="3276581" y="3871913"/>
            <a:ext cx="93343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21" dirty="0">
                <a:solidFill>
                  <a:srgbClr val="000000"/>
                </a:solidFill>
              </a:rPr>
              <a:t>Média: 30-70%</a:t>
            </a:r>
            <a:endParaRPr lang="en-US" sz="621" dirty="0"/>
          </a:p>
        </p:txBody>
      </p:sp>
      <p:sp>
        <p:nvSpPr>
          <p:cNvPr id="43" name="Text 40"/>
          <p:cNvSpPr/>
          <p:nvPr/>
        </p:nvSpPr>
        <p:spPr>
          <a:xfrm>
            <a:off x="3276581" y="4014788"/>
            <a:ext cx="93343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21" dirty="0">
                <a:solidFill>
                  <a:srgbClr val="000000"/>
                </a:solidFill>
              </a:rPr>
              <a:t>Alta: 60-100%</a:t>
            </a:r>
            <a:endParaRPr lang="en-US" sz="62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808" b="1" dirty="0">
                <a:solidFill>
                  <a:srgbClr val="C44848"/>
                </a:solidFill>
              </a:rPr>
              <a:t>Sistema de recomendações otimiza armazenamento,
venda e consumo de energia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285750" y="1128713"/>
            <a:ext cx="492918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21211"/>
                </a:solidFill>
              </a:rPr>
              <a:t>Fluxo de Decisão Inteligente</a:t>
            </a:r>
            <a:endParaRPr lang="en-US" sz="885" dirty="0"/>
          </a:p>
        </p:txBody>
      </p:sp>
      <p:sp>
        <p:nvSpPr>
          <p:cNvPr id="5" name="Shape 2"/>
          <p:cNvSpPr/>
          <p:nvPr/>
        </p:nvSpPr>
        <p:spPr>
          <a:xfrm>
            <a:off x="457200" y="1443038"/>
            <a:ext cx="1490644" cy="371475"/>
          </a:xfrm>
          <a:prstGeom prst="rect">
            <a:avLst/>
          </a:prstGeom>
          <a:solidFill>
            <a:srgbClr val="F9FAFB"/>
          </a:solidFill>
          <a:ln w="18288">
            <a:solidFill>
              <a:srgbClr val="6B728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14350" y="1500188"/>
            <a:ext cx="137634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584" b="1" dirty="0">
                <a:solidFill>
                  <a:srgbClr val="000000"/>
                </a:solidFill>
              </a:rPr>
              <a:t>Geração Prevista</a:t>
            </a:r>
            <a:endParaRPr lang="en-US" sz="584" dirty="0"/>
          </a:p>
        </p:txBody>
      </p:sp>
      <p:sp>
        <p:nvSpPr>
          <p:cNvPr id="7" name="Text 4"/>
          <p:cNvSpPr/>
          <p:nvPr/>
        </p:nvSpPr>
        <p:spPr>
          <a:xfrm>
            <a:off x="514350" y="1614488"/>
            <a:ext cx="137634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21" dirty="0">
                <a:solidFill>
                  <a:srgbClr val="000000"/>
                </a:solidFill>
              </a:rPr>
              <a:t>(Modelo ML)</a:t>
            </a:r>
            <a:endParaRPr lang="en-US" sz="621" dirty="0"/>
          </a:p>
        </p:txBody>
      </p:sp>
      <p:sp>
        <p:nvSpPr>
          <p:cNvPr id="8" name="Shape 5"/>
          <p:cNvSpPr/>
          <p:nvPr/>
        </p:nvSpPr>
        <p:spPr>
          <a:xfrm>
            <a:off x="2004994" y="1443038"/>
            <a:ext cx="1490672" cy="371475"/>
          </a:xfrm>
          <a:prstGeom prst="rect">
            <a:avLst/>
          </a:prstGeom>
          <a:solidFill>
            <a:srgbClr val="F9FAFB"/>
          </a:solidFill>
          <a:ln w="18288">
            <a:solidFill>
              <a:srgbClr val="6B72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062144" y="1500188"/>
            <a:ext cx="137637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584" b="1" dirty="0">
                <a:solidFill>
                  <a:srgbClr val="000000"/>
                </a:solidFill>
              </a:rPr>
              <a:t>Consumo Atual</a:t>
            </a:r>
            <a:endParaRPr lang="en-US" sz="584" dirty="0"/>
          </a:p>
        </p:txBody>
      </p:sp>
      <p:sp>
        <p:nvSpPr>
          <p:cNvPr id="10" name="Text 7"/>
          <p:cNvSpPr/>
          <p:nvPr/>
        </p:nvSpPr>
        <p:spPr>
          <a:xfrm>
            <a:off x="2062144" y="1614488"/>
            <a:ext cx="137637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21" dirty="0">
                <a:solidFill>
                  <a:srgbClr val="000000"/>
                </a:solidFill>
              </a:rPr>
              <a:t>(Medido)</a:t>
            </a:r>
            <a:endParaRPr lang="en-US" sz="621" dirty="0"/>
          </a:p>
        </p:txBody>
      </p:sp>
      <p:sp>
        <p:nvSpPr>
          <p:cNvPr id="11" name="Shape 8"/>
          <p:cNvSpPr/>
          <p:nvPr/>
        </p:nvSpPr>
        <p:spPr>
          <a:xfrm>
            <a:off x="3552816" y="1443038"/>
            <a:ext cx="1490672" cy="371475"/>
          </a:xfrm>
          <a:prstGeom prst="rect">
            <a:avLst/>
          </a:prstGeom>
          <a:solidFill>
            <a:srgbClr val="F9FAFB"/>
          </a:solidFill>
          <a:ln w="18288">
            <a:solidFill>
              <a:srgbClr val="6B728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09966" y="1500188"/>
            <a:ext cx="137637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584" b="1" dirty="0">
                <a:solidFill>
                  <a:srgbClr val="000000"/>
                </a:solidFill>
              </a:rPr>
              <a:t>Estado da Bateria</a:t>
            </a:r>
            <a:endParaRPr lang="en-US" sz="584" dirty="0"/>
          </a:p>
        </p:txBody>
      </p:sp>
      <p:sp>
        <p:nvSpPr>
          <p:cNvPr id="13" name="Text 10"/>
          <p:cNvSpPr/>
          <p:nvPr/>
        </p:nvSpPr>
        <p:spPr>
          <a:xfrm>
            <a:off x="3609966" y="1614488"/>
            <a:ext cx="137637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21" dirty="0">
                <a:solidFill>
                  <a:srgbClr val="000000"/>
                </a:solidFill>
              </a:rPr>
              <a:t>(%)</a:t>
            </a:r>
            <a:endParaRPr lang="en-US" sz="621" dirty="0"/>
          </a:p>
        </p:txBody>
      </p:sp>
      <p:sp>
        <p:nvSpPr>
          <p:cNvPr id="14" name="Text 11"/>
          <p:cNvSpPr/>
          <p:nvPr/>
        </p:nvSpPr>
        <p:spPr>
          <a:xfrm>
            <a:off x="457200" y="1871663"/>
            <a:ext cx="45862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D6AE7E"/>
                </a:solidFill>
              </a:rPr>
              <a:t>↓</a:t>
            </a:r>
            <a:endParaRPr lang="en-US" sz="987" dirty="0"/>
          </a:p>
        </p:txBody>
      </p:sp>
      <p:sp>
        <p:nvSpPr>
          <p:cNvPr id="15" name="Shape 12"/>
          <p:cNvSpPr/>
          <p:nvPr/>
        </p:nvSpPr>
        <p:spPr>
          <a:xfrm>
            <a:off x="457200" y="2114550"/>
            <a:ext cx="4586288" cy="428625"/>
          </a:xfrm>
          <a:prstGeom prst="rect">
            <a:avLst/>
          </a:prstGeom>
          <a:solidFill>
            <a:srgbClr val="FFFBF5"/>
          </a:solidFill>
          <a:ln w="18288">
            <a:solidFill>
              <a:srgbClr val="D6AE7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2925" y="2171700"/>
            <a:ext cx="441483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Condição 1: Geração &gt; Consumo?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542925" y="2343150"/>
            <a:ext cx="44148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21" dirty="0">
                <a:solidFill>
                  <a:srgbClr val="000000"/>
                </a:solidFill>
              </a:rPr>
              <a:t>Há excedente de energia disponível</a:t>
            </a:r>
            <a:endParaRPr lang="en-US" sz="621" dirty="0"/>
          </a:p>
        </p:txBody>
      </p:sp>
      <p:sp>
        <p:nvSpPr>
          <p:cNvPr id="18" name="Shape 15"/>
          <p:cNvSpPr/>
          <p:nvPr/>
        </p:nvSpPr>
        <p:spPr>
          <a:xfrm>
            <a:off x="457200" y="2600325"/>
            <a:ext cx="2250281" cy="285750"/>
          </a:xfrm>
          <a:prstGeom prst="rect">
            <a:avLst/>
          </a:prstGeom>
          <a:solidFill>
            <a:srgbClr val="FFFBF5"/>
          </a:solidFill>
          <a:ln w="18288">
            <a:solidFill>
              <a:srgbClr val="D6AE7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4350" y="2657475"/>
            <a:ext cx="213598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584" b="1" dirty="0">
                <a:solidFill>
                  <a:srgbClr val="000000"/>
                </a:solidFill>
              </a:rPr>
              <a:t>SIM: Bateria &lt; 80%?</a:t>
            </a:r>
            <a:endParaRPr lang="en-US" sz="584" dirty="0"/>
          </a:p>
        </p:txBody>
      </p:sp>
      <p:sp>
        <p:nvSpPr>
          <p:cNvPr id="20" name="Shape 17"/>
          <p:cNvSpPr/>
          <p:nvPr/>
        </p:nvSpPr>
        <p:spPr>
          <a:xfrm>
            <a:off x="457200" y="2914650"/>
            <a:ext cx="2250281" cy="257175"/>
          </a:xfrm>
          <a:prstGeom prst="rect">
            <a:avLst/>
          </a:prstGeom>
          <a:solidFill>
            <a:srgbClr val="FEF2F2"/>
          </a:solidFill>
          <a:ln w="18288">
            <a:solidFill>
              <a:srgbClr val="C4484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4350" y="2971800"/>
            <a:ext cx="213598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584" b="1" dirty="0">
                <a:solidFill>
                  <a:srgbClr val="000000"/>
                </a:solidFill>
              </a:rPr>
              <a:t>→ ARMAZENAR</a:t>
            </a:r>
            <a:endParaRPr lang="en-US" sz="584" dirty="0"/>
          </a:p>
        </p:txBody>
      </p:sp>
      <p:sp>
        <p:nvSpPr>
          <p:cNvPr id="22" name="Shape 19"/>
          <p:cNvSpPr/>
          <p:nvPr/>
        </p:nvSpPr>
        <p:spPr>
          <a:xfrm>
            <a:off x="2793206" y="2600325"/>
            <a:ext cx="2250281" cy="285750"/>
          </a:xfrm>
          <a:prstGeom prst="rect">
            <a:avLst/>
          </a:prstGeom>
          <a:solidFill>
            <a:srgbClr val="FFFBF5"/>
          </a:solidFill>
          <a:ln w="18288">
            <a:solidFill>
              <a:srgbClr val="D6AE7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850356" y="2657475"/>
            <a:ext cx="213598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584" b="1" dirty="0">
                <a:solidFill>
                  <a:srgbClr val="000000"/>
                </a:solidFill>
              </a:rPr>
              <a:t>SIM: Bateria ≥ 80%?</a:t>
            </a:r>
            <a:endParaRPr lang="en-US" sz="584" dirty="0"/>
          </a:p>
        </p:txBody>
      </p:sp>
      <p:sp>
        <p:nvSpPr>
          <p:cNvPr id="24" name="Shape 21"/>
          <p:cNvSpPr/>
          <p:nvPr/>
        </p:nvSpPr>
        <p:spPr>
          <a:xfrm>
            <a:off x="2793206" y="2914650"/>
            <a:ext cx="2250281" cy="257175"/>
          </a:xfrm>
          <a:prstGeom prst="rect">
            <a:avLst/>
          </a:prstGeom>
          <a:solidFill>
            <a:srgbClr val="FEF2F2"/>
          </a:solidFill>
          <a:ln w="18288">
            <a:solidFill>
              <a:srgbClr val="C4484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850356" y="2971800"/>
            <a:ext cx="213598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584" b="1" dirty="0">
                <a:solidFill>
                  <a:srgbClr val="000000"/>
                </a:solidFill>
              </a:rPr>
              <a:t>→ VENDER</a:t>
            </a:r>
            <a:endParaRPr lang="en-US" sz="584" dirty="0"/>
          </a:p>
        </p:txBody>
      </p:sp>
      <p:sp>
        <p:nvSpPr>
          <p:cNvPr id="26" name="Shape 23"/>
          <p:cNvSpPr/>
          <p:nvPr/>
        </p:nvSpPr>
        <p:spPr>
          <a:xfrm>
            <a:off x="457200" y="3228975"/>
            <a:ext cx="4586288" cy="428625"/>
          </a:xfrm>
          <a:prstGeom prst="rect">
            <a:avLst/>
          </a:prstGeom>
          <a:solidFill>
            <a:srgbClr val="FFFBF5"/>
          </a:solidFill>
          <a:ln w="18288">
            <a:solidFill>
              <a:srgbClr val="D6AE7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2925" y="3286125"/>
            <a:ext cx="441483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Condição 2: Geração &lt; Consumo?</a:t>
            </a:r>
            <a:endParaRPr lang="en-US" sz="683" dirty="0"/>
          </a:p>
        </p:txBody>
      </p:sp>
      <p:sp>
        <p:nvSpPr>
          <p:cNvPr id="28" name="Text 25"/>
          <p:cNvSpPr/>
          <p:nvPr/>
        </p:nvSpPr>
        <p:spPr>
          <a:xfrm>
            <a:off x="542925" y="3457575"/>
            <a:ext cx="44148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21" dirty="0">
                <a:solidFill>
                  <a:srgbClr val="000000"/>
                </a:solidFill>
              </a:rPr>
              <a:t>Déficit energético previsto</a:t>
            </a:r>
            <a:endParaRPr lang="en-US" sz="621" dirty="0"/>
          </a:p>
        </p:txBody>
      </p:sp>
      <p:sp>
        <p:nvSpPr>
          <p:cNvPr id="29" name="Shape 26"/>
          <p:cNvSpPr/>
          <p:nvPr/>
        </p:nvSpPr>
        <p:spPr>
          <a:xfrm>
            <a:off x="457200" y="3714750"/>
            <a:ext cx="2250281" cy="257175"/>
          </a:xfrm>
          <a:prstGeom prst="rect">
            <a:avLst/>
          </a:prstGeom>
          <a:solidFill>
            <a:srgbClr val="FEF2F2"/>
          </a:solidFill>
          <a:ln w="18288">
            <a:solidFill>
              <a:srgbClr val="C4484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14350" y="3771900"/>
            <a:ext cx="213598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584" b="1" dirty="0">
                <a:solidFill>
                  <a:srgbClr val="000000"/>
                </a:solidFill>
              </a:rPr>
              <a:t>→ ALERTA DE ECONOMIA</a:t>
            </a:r>
            <a:endParaRPr lang="en-US" sz="584" dirty="0"/>
          </a:p>
        </p:txBody>
      </p:sp>
      <p:sp>
        <p:nvSpPr>
          <p:cNvPr id="31" name="Shape 28"/>
          <p:cNvSpPr/>
          <p:nvPr/>
        </p:nvSpPr>
        <p:spPr>
          <a:xfrm>
            <a:off x="2793206" y="3714750"/>
            <a:ext cx="2250281" cy="257175"/>
          </a:xfrm>
          <a:prstGeom prst="rect">
            <a:avLst/>
          </a:prstGeom>
          <a:solidFill>
            <a:srgbClr val="FEF2F2"/>
          </a:solidFill>
          <a:ln w="18288">
            <a:solidFill>
              <a:srgbClr val="C4484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850356" y="3771900"/>
            <a:ext cx="213598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584" b="1" dirty="0">
                <a:solidFill>
                  <a:srgbClr val="000000"/>
                </a:solidFill>
              </a:rPr>
              <a:t>→ ADIAR CONSUMO</a:t>
            </a:r>
            <a:endParaRPr lang="en-US" sz="584" dirty="0"/>
          </a:p>
        </p:txBody>
      </p:sp>
      <p:sp>
        <p:nvSpPr>
          <p:cNvPr id="33" name="Text 30"/>
          <p:cNvSpPr/>
          <p:nvPr/>
        </p:nvSpPr>
        <p:spPr>
          <a:xfrm>
            <a:off x="457200" y="4057650"/>
            <a:ext cx="458628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Avaliação contínua em tempo real • Priorização automática</a:t>
            </a:r>
            <a:endParaRPr lang="en-US" sz="621" dirty="0"/>
          </a:p>
        </p:txBody>
      </p:sp>
      <p:sp>
        <p:nvSpPr>
          <p:cNvPr id="34" name="Shape 31"/>
          <p:cNvSpPr/>
          <p:nvPr/>
        </p:nvSpPr>
        <p:spPr>
          <a:xfrm>
            <a:off x="5386388" y="1128713"/>
            <a:ext cx="3471863" cy="1057275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35" name="Shape 32"/>
          <p:cNvSpPr/>
          <p:nvPr/>
        </p:nvSpPr>
        <p:spPr>
          <a:xfrm>
            <a:off x="5386388" y="1128713"/>
            <a:ext cx="28575" cy="1057275"/>
          </a:xfrm>
          <a:prstGeom prst="rect">
            <a:avLst/>
          </a:prstGeom>
          <a:solidFill>
            <a:srgbClr val="C44848"/>
          </a:solidFill>
          <a:ln/>
        </p:spPr>
      </p:sp>
      <p:sp>
        <p:nvSpPr>
          <p:cNvPr id="36" name="Text 33"/>
          <p:cNvSpPr/>
          <p:nvPr/>
        </p:nvSpPr>
        <p:spPr>
          <a:xfrm>
            <a:off x="5500688" y="1243013"/>
            <a:ext cx="324326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Insight Principal</a:t>
            </a:r>
            <a:endParaRPr lang="en-US" sz="885" dirty="0"/>
          </a:p>
        </p:txBody>
      </p:sp>
      <p:sp>
        <p:nvSpPr>
          <p:cNvPr id="37" name="Text 34"/>
          <p:cNvSpPr/>
          <p:nvPr/>
        </p:nvSpPr>
        <p:spPr>
          <a:xfrm>
            <a:off x="5500688" y="1471613"/>
            <a:ext cx="3243263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O sistema avalia continuamente três variáveis para priorizar: 1º autoconsumo imediato, 2º armazenamento, 3º venda de excedente.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5493544" y="2328863"/>
            <a:ext cx="336470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1. Armazenamento em Bateria</a:t>
            </a:r>
            <a:endParaRPr lang="en-US" sz="885" dirty="0"/>
          </a:p>
        </p:txBody>
      </p:sp>
      <p:sp>
        <p:nvSpPr>
          <p:cNvPr id="39" name="Text 36"/>
          <p:cNvSpPr/>
          <p:nvPr/>
        </p:nvSpPr>
        <p:spPr>
          <a:xfrm>
            <a:off x="5493544" y="2528888"/>
            <a:ext cx="336470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000000"/>
                </a:solidFill>
              </a:rPr>
              <a:t>Quando: Geração &gt; Consumo E Bateria &lt; 80%
Benefício: Autonomia em períodos noturnos ou nublados</a:t>
            </a:r>
            <a:endParaRPr lang="en-US" sz="727" dirty="0"/>
          </a:p>
        </p:txBody>
      </p:sp>
      <p:sp>
        <p:nvSpPr>
          <p:cNvPr id="40" name="Text 37"/>
          <p:cNvSpPr/>
          <p:nvPr/>
        </p:nvSpPr>
        <p:spPr>
          <a:xfrm>
            <a:off x="5493544" y="2928938"/>
            <a:ext cx="336470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2. Venda para a Rede</a:t>
            </a:r>
            <a:endParaRPr lang="en-US" sz="885" dirty="0"/>
          </a:p>
        </p:txBody>
      </p:sp>
      <p:sp>
        <p:nvSpPr>
          <p:cNvPr id="41" name="Text 38"/>
          <p:cNvSpPr/>
          <p:nvPr/>
        </p:nvSpPr>
        <p:spPr>
          <a:xfrm>
            <a:off x="5493544" y="3128963"/>
            <a:ext cx="336470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000000"/>
                </a:solidFill>
              </a:rPr>
              <a:t>Quando: Geração &gt; Consumo E Bateria &gt; 80%
Benefício: Receita adicional e otimização do investimento</a:t>
            </a:r>
            <a:endParaRPr lang="en-US" sz="727" dirty="0"/>
          </a:p>
        </p:txBody>
      </p:sp>
      <p:sp>
        <p:nvSpPr>
          <p:cNvPr id="42" name="Text 39"/>
          <p:cNvSpPr/>
          <p:nvPr/>
        </p:nvSpPr>
        <p:spPr>
          <a:xfrm>
            <a:off x="5493544" y="3529013"/>
            <a:ext cx="336470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3. Economia/Alerta</a:t>
            </a:r>
            <a:endParaRPr lang="en-US" sz="885" dirty="0"/>
          </a:p>
        </p:txBody>
      </p:sp>
      <p:sp>
        <p:nvSpPr>
          <p:cNvPr id="43" name="Text 40"/>
          <p:cNvSpPr/>
          <p:nvPr/>
        </p:nvSpPr>
        <p:spPr>
          <a:xfrm>
            <a:off x="5493544" y="3729038"/>
            <a:ext cx="336470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000000"/>
                </a:solidFill>
              </a:rPr>
              <a:t>Quando: Geração &lt; Consumo médio
Benefício: Evitar custos de energia da rede convencional</a:t>
            </a:r>
            <a:endParaRPr lang="en-US" sz="727" dirty="0"/>
          </a:p>
        </p:txBody>
      </p:sp>
      <p:sp>
        <p:nvSpPr>
          <p:cNvPr id="44" name="Text 41"/>
          <p:cNvSpPr/>
          <p:nvPr/>
        </p:nvSpPr>
        <p:spPr>
          <a:xfrm>
            <a:off x="5493544" y="4129088"/>
            <a:ext cx="336470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4. Uso Otimizado de Eletrodomésticos</a:t>
            </a:r>
            <a:endParaRPr lang="en-US" sz="885" dirty="0"/>
          </a:p>
        </p:txBody>
      </p:sp>
      <p:sp>
        <p:nvSpPr>
          <p:cNvPr id="45" name="Text 42"/>
          <p:cNvSpPr/>
          <p:nvPr/>
        </p:nvSpPr>
        <p:spPr>
          <a:xfrm>
            <a:off x="5493544" y="4329113"/>
            <a:ext cx="336470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000000"/>
                </a:solidFill>
              </a:rPr>
              <a:t>Quando: Pico de geração previsto (11h-14h)
Benefício: Maximizar autoconsumo e reduzir dependência</a:t>
            </a:r>
            <a:endParaRPr lang="en-US" sz="727" dirty="0"/>
          </a:p>
        </p:txBody>
      </p:sp>
      <p:sp>
        <p:nvSpPr>
          <p:cNvPr id="46" name="Text 43"/>
          <p:cNvSpPr/>
          <p:nvPr/>
        </p:nvSpPr>
        <p:spPr>
          <a:xfrm>
            <a:off x="5386388" y="4729163"/>
            <a:ext cx="347186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Lógica de Decisão:</a:t>
            </a:r>
            <a:endParaRPr lang="en-US" sz="885" dirty="0"/>
          </a:p>
        </p:txBody>
      </p:sp>
      <p:sp>
        <p:nvSpPr>
          <p:cNvPr id="47" name="Text 44"/>
          <p:cNvSpPr/>
          <p:nvPr/>
        </p:nvSpPr>
        <p:spPr>
          <a:xfrm>
            <a:off x="5557838" y="4957763"/>
            <a:ext cx="153590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000000"/>
                </a:solidFill>
              </a:rPr>
              <a:t>Autoconsumo prioritário</a:t>
            </a:r>
            <a:endParaRPr lang="en-US" sz="727" dirty="0"/>
          </a:p>
        </p:txBody>
      </p:sp>
      <p:sp>
        <p:nvSpPr>
          <p:cNvPr id="48" name="Text 45"/>
          <p:cNvSpPr/>
          <p:nvPr/>
        </p:nvSpPr>
        <p:spPr>
          <a:xfrm>
            <a:off x="5557838" y="5100638"/>
            <a:ext cx="153590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000000"/>
                </a:solidFill>
              </a:rPr>
              <a:t>Armazenamento secundário</a:t>
            </a:r>
            <a:endParaRPr lang="en-US" sz="727" dirty="0"/>
          </a:p>
        </p:txBody>
      </p:sp>
      <p:sp>
        <p:nvSpPr>
          <p:cNvPr id="49" name="Text 46"/>
          <p:cNvSpPr/>
          <p:nvPr/>
        </p:nvSpPr>
        <p:spPr>
          <a:xfrm>
            <a:off x="7322344" y="4957763"/>
            <a:ext cx="153590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000000"/>
                </a:solidFill>
              </a:rPr>
              <a:t>Venda de excedente</a:t>
            </a:r>
            <a:endParaRPr lang="en-US" sz="727" dirty="0"/>
          </a:p>
        </p:txBody>
      </p:sp>
      <p:sp>
        <p:nvSpPr>
          <p:cNvPr id="50" name="Text 47"/>
          <p:cNvSpPr/>
          <p:nvPr/>
        </p:nvSpPr>
        <p:spPr>
          <a:xfrm>
            <a:off x="7322344" y="5100638"/>
            <a:ext cx="153590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000000"/>
                </a:solidFill>
              </a:rPr>
              <a:t>Alertas preventivos</a:t>
            </a:r>
            <a:endParaRPr lang="en-US" sz="72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0721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808" b="1" dirty="0">
                <a:solidFill>
                  <a:srgbClr val="C44848"/>
                </a:solidFill>
              </a:rPr>
              <a:t>Visualizações revelam padrões diários, sazonais
e correlações entre variáveis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342900" y="1300163"/>
            <a:ext cx="2705081" cy="1514475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5" name="Shape 2"/>
          <p:cNvSpPr/>
          <p:nvPr/>
        </p:nvSpPr>
        <p:spPr>
          <a:xfrm>
            <a:off x="342900" y="1300163"/>
            <a:ext cx="28575" cy="1514475"/>
          </a:xfrm>
          <a:prstGeom prst="rect">
            <a:avLst/>
          </a:prstGeom>
          <a:solidFill>
            <a:srgbClr val="C44848"/>
          </a:solidFill>
          <a:ln/>
        </p:spPr>
      </p:sp>
      <p:sp>
        <p:nvSpPr>
          <p:cNvPr id="6" name="Text 3"/>
          <p:cNvSpPr/>
          <p:nvPr/>
        </p:nvSpPr>
        <p:spPr>
          <a:xfrm>
            <a:off x="485775" y="1443038"/>
            <a:ext cx="24193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Insight Principal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485775" y="1671638"/>
            <a:ext cx="2419331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A análise exploratória identificou cinco padrões fundamentais que orientaram a modelagem e validaram os resultados das previsões.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42900" y="3043238"/>
            <a:ext cx="27050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21211"/>
                </a:solidFill>
              </a:rPr>
              <a:t>Principais Descobertas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481031" y="3386138"/>
            <a:ext cx="25669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Ciclo diário com pico de 3,8 MW entre 11h-14h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472883" y="3871913"/>
            <a:ext cx="257509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Sazonalidade anual: verão gera 100% mais que inverno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475729" y="4357688"/>
            <a:ext cx="257225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Correlação irradiância-geração de 0,89 (muito forte)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470371" y="4843463"/>
            <a:ext cx="257761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Temperatura reduz geração em 0,5% por °C acima de 25°C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479217" y="5329238"/>
            <a:ext cx="256876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Gap médio de 2,2 MW entre geração e consumo</a:t>
            </a:r>
            <a:endParaRPr lang="en-US" sz="942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9431" y="1300163"/>
            <a:ext cx="5581055" cy="271462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219431" y="4129088"/>
            <a:ext cx="1784347" cy="62865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6" name="Shape 12"/>
          <p:cNvSpPr/>
          <p:nvPr/>
        </p:nvSpPr>
        <p:spPr>
          <a:xfrm>
            <a:off x="3219431" y="4129088"/>
            <a:ext cx="28575" cy="628650"/>
          </a:xfrm>
          <a:prstGeom prst="rect">
            <a:avLst/>
          </a:prstGeom>
          <a:solidFill>
            <a:srgbClr val="C44848"/>
          </a:solidFill>
          <a:ln/>
        </p:spPr>
      </p:sp>
      <p:sp>
        <p:nvSpPr>
          <p:cNvPr id="17" name="Text 13"/>
          <p:cNvSpPr/>
          <p:nvPr/>
        </p:nvSpPr>
        <p:spPr>
          <a:xfrm>
            <a:off x="3305156" y="4186238"/>
            <a:ext cx="161289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C44848"/>
                </a:solidFill>
              </a:rPr>
              <a:t>0,89</a:t>
            </a:r>
            <a:endParaRPr lang="en-US" sz="1193" dirty="0"/>
          </a:p>
        </p:txBody>
      </p:sp>
      <p:sp>
        <p:nvSpPr>
          <p:cNvPr id="18" name="Text 14"/>
          <p:cNvSpPr/>
          <p:nvPr/>
        </p:nvSpPr>
        <p:spPr>
          <a:xfrm>
            <a:off x="3305156" y="4414838"/>
            <a:ext cx="161289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Correlação Irradiância-Geração</a:t>
            </a:r>
            <a:endParaRPr lang="en-US" sz="683" dirty="0"/>
          </a:p>
        </p:txBody>
      </p:sp>
      <p:sp>
        <p:nvSpPr>
          <p:cNvPr id="19" name="Shape 15"/>
          <p:cNvSpPr/>
          <p:nvPr/>
        </p:nvSpPr>
        <p:spPr>
          <a:xfrm>
            <a:off x="5118078" y="4129088"/>
            <a:ext cx="1784347" cy="628650"/>
          </a:xfrm>
          <a:prstGeom prst="rect">
            <a:avLst/>
          </a:prstGeom>
          <a:solidFill>
            <a:srgbClr val="FFFBF5"/>
          </a:solidFill>
          <a:ln/>
        </p:spPr>
      </p:sp>
      <p:sp>
        <p:nvSpPr>
          <p:cNvPr id="20" name="Shape 16"/>
          <p:cNvSpPr/>
          <p:nvPr/>
        </p:nvSpPr>
        <p:spPr>
          <a:xfrm>
            <a:off x="5118078" y="4129088"/>
            <a:ext cx="28575" cy="628650"/>
          </a:xfrm>
          <a:prstGeom prst="rect">
            <a:avLst/>
          </a:prstGeom>
          <a:solidFill>
            <a:srgbClr val="D6AE7E"/>
          </a:solidFill>
          <a:ln/>
        </p:spPr>
      </p:sp>
      <p:sp>
        <p:nvSpPr>
          <p:cNvPr id="21" name="Text 17"/>
          <p:cNvSpPr/>
          <p:nvPr/>
        </p:nvSpPr>
        <p:spPr>
          <a:xfrm>
            <a:off x="5203803" y="4186238"/>
            <a:ext cx="161289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D6AE7E"/>
                </a:solidFill>
              </a:rPr>
              <a:t>100%</a:t>
            </a:r>
            <a:endParaRPr lang="en-US" sz="1193" dirty="0"/>
          </a:p>
        </p:txBody>
      </p:sp>
      <p:sp>
        <p:nvSpPr>
          <p:cNvPr id="22" name="Text 18"/>
          <p:cNvSpPr/>
          <p:nvPr/>
        </p:nvSpPr>
        <p:spPr>
          <a:xfrm>
            <a:off x="5203803" y="4414838"/>
            <a:ext cx="161289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Diferença Sazonal (Verão vs. Inverno)</a:t>
            </a:r>
            <a:endParaRPr lang="en-US" sz="683" dirty="0"/>
          </a:p>
        </p:txBody>
      </p:sp>
      <p:sp>
        <p:nvSpPr>
          <p:cNvPr id="23" name="Shape 19"/>
          <p:cNvSpPr/>
          <p:nvPr/>
        </p:nvSpPr>
        <p:spPr>
          <a:xfrm>
            <a:off x="7016725" y="4129088"/>
            <a:ext cx="1784347" cy="62865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4" name="Shape 20"/>
          <p:cNvSpPr/>
          <p:nvPr/>
        </p:nvSpPr>
        <p:spPr>
          <a:xfrm>
            <a:off x="7016725" y="4129088"/>
            <a:ext cx="28575" cy="62865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5" name="Text 21"/>
          <p:cNvSpPr/>
          <p:nvPr/>
        </p:nvSpPr>
        <p:spPr>
          <a:xfrm>
            <a:off x="7102450" y="4186238"/>
            <a:ext cx="161289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6B7280"/>
                </a:solidFill>
              </a:rPr>
              <a:t>2,2 MW</a:t>
            </a:r>
            <a:endParaRPr lang="en-US" sz="1193" dirty="0"/>
          </a:p>
        </p:txBody>
      </p:sp>
      <p:sp>
        <p:nvSpPr>
          <p:cNvPr id="26" name="Text 22"/>
          <p:cNvSpPr/>
          <p:nvPr/>
        </p:nvSpPr>
        <p:spPr>
          <a:xfrm>
            <a:off x="7102450" y="4414838"/>
            <a:ext cx="161289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Gap Médio Geração-Consumo</a:t>
            </a:r>
            <a:endParaRPr lang="en-US" sz="683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864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808" b="1" dirty="0">
                <a:solidFill>
                  <a:srgbClr val="C44848"/>
                </a:solidFill>
              </a:rPr>
              <a:t>Validação cruzada com dados NASA confirma generalização
do modelo para novas localidades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342900" y="1300163"/>
            <a:ext cx="2705081" cy="1514475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5" name="Shape 2"/>
          <p:cNvSpPr/>
          <p:nvPr/>
        </p:nvSpPr>
        <p:spPr>
          <a:xfrm>
            <a:off x="342900" y="1300163"/>
            <a:ext cx="28575" cy="1514475"/>
          </a:xfrm>
          <a:prstGeom prst="rect">
            <a:avLst/>
          </a:prstGeom>
          <a:solidFill>
            <a:srgbClr val="C44848"/>
          </a:solidFill>
          <a:ln/>
        </p:spPr>
      </p:sp>
      <p:sp>
        <p:nvSpPr>
          <p:cNvPr id="6" name="Text 3"/>
          <p:cNvSpPr/>
          <p:nvPr/>
        </p:nvSpPr>
        <p:spPr>
          <a:xfrm>
            <a:off x="485775" y="1443038"/>
            <a:ext cx="24193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Insight Principal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485775" y="1671638"/>
            <a:ext cx="2419331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O modelo demonstra capacidade de generalização adequada para diferentes contextos geográficos e temporais, validando sua aplicabilidade em cenários reais.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42900" y="3043238"/>
            <a:ext cx="27050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21211"/>
                </a:solidFill>
              </a:rPr>
              <a:t>Resultados da Validação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470315" y="3386138"/>
            <a:ext cx="257766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Validação NASA: R² de 0,88 com dados satelitais 2022-2024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472632" y="3871913"/>
            <a:ext cx="25753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Validação Plant1: R² de 0,91 com dados industriais reais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473971" y="4357688"/>
            <a:ext cx="257401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Degradação de apenas 6% vs. teste interno (aceitável)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478101" y="4843463"/>
            <a:ext cx="25698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MAE de 0,19 MW representa erro de apenas 3,2%</a:t>
            </a:r>
            <a:endParaRPr lang="en-US" sz="942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9431" y="1300163"/>
            <a:ext cx="5581055" cy="257175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333731" y="4014788"/>
            <a:ext cx="1708138" cy="771525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5" name="Shape 11"/>
          <p:cNvSpPr/>
          <p:nvPr/>
        </p:nvSpPr>
        <p:spPr>
          <a:xfrm>
            <a:off x="3333731" y="4014788"/>
            <a:ext cx="28575" cy="771525"/>
          </a:xfrm>
          <a:prstGeom prst="rect">
            <a:avLst/>
          </a:prstGeom>
          <a:solidFill>
            <a:srgbClr val="C44848"/>
          </a:solidFill>
          <a:ln/>
        </p:spPr>
      </p:sp>
      <p:sp>
        <p:nvSpPr>
          <p:cNvPr id="16" name="Text 12"/>
          <p:cNvSpPr/>
          <p:nvPr/>
        </p:nvSpPr>
        <p:spPr>
          <a:xfrm>
            <a:off x="3419456" y="4100513"/>
            <a:ext cx="15366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21211"/>
                </a:solidFill>
              </a:rPr>
              <a:t>Teste Interno</a:t>
            </a:r>
            <a:endParaRPr lang="en-US" sz="784" dirty="0"/>
          </a:p>
        </p:txBody>
      </p:sp>
      <p:sp>
        <p:nvSpPr>
          <p:cNvPr id="17" name="Text 13"/>
          <p:cNvSpPr/>
          <p:nvPr/>
        </p:nvSpPr>
        <p:spPr>
          <a:xfrm>
            <a:off x="3419456" y="4300538"/>
            <a:ext cx="153668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C44848"/>
                </a:solidFill>
              </a:rPr>
              <a:t>0,94</a:t>
            </a:r>
            <a:endParaRPr lang="en-US" sz="1499" dirty="0"/>
          </a:p>
        </p:txBody>
      </p:sp>
      <p:sp>
        <p:nvSpPr>
          <p:cNvPr id="18" name="Text 14"/>
          <p:cNvSpPr/>
          <p:nvPr/>
        </p:nvSpPr>
        <p:spPr>
          <a:xfrm>
            <a:off x="3419456" y="4557713"/>
            <a:ext cx="15366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000000"/>
                </a:solidFill>
              </a:rPr>
              <a:t>R² Score (Baseline)</a:t>
            </a:r>
            <a:endParaRPr lang="en-US" sz="727" dirty="0"/>
          </a:p>
        </p:txBody>
      </p:sp>
      <p:sp>
        <p:nvSpPr>
          <p:cNvPr id="19" name="Shape 15"/>
          <p:cNvSpPr/>
          <p:nvPr/>
        </p:nvSpPr>
        <p:spPr>
          <a:xfrm>
            <a:off x="5156169" y="4014788"/>
            <a:ext cx="1708166" cy="771525"/>
          </a:xfrm>
          <a:prstGeom prst="rect">
            <a:avLst/>
          </a:prstGeom>
          <a:solidFill>
            <a:srgbClr val="FFFBF5"/>
          </a:solidFill>
          <a:ln/>
        </p:spPr>
      </p:sp>
      <p:sp>
        <p:nvSpPr>
          <p:cNvPr id="20" name="Shape 16"/>
          <p:cNvSpPr/>
          <p:nvPr/>
        </p:nvSpPr>
        <p:spPr>
          <a:xfrm>
            <a:off x="5156169" y="4014788"/>
            <a:ext cx="28575" cy="771525"/>
          </a:xfrm>
          <a:prstGeom prst="rect">
            <a:avLst/>
          </a:prstGeom>
          <a:solidFill>
            <a:srgbClr val="D6AE7E"/>
          </a:solidFill>
          <a:ln/>
        </p:spPr>
      </p:sp>
      <p:sp>
        <p:nvSpPr>
          <p:cNvPr id="21" name="Text 17"/>
          <p:cNvSpPr/>
          <p:nvPr/>
        </p:nvSpPr>
        <p:spPr>
          <a:xfrm>
            <a:off x="5241894" y="4100513"/>
            <a:ext cx="153671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21211"/>
                </a:solidFill>
              </a:rPr>
              <a:t>NASA POWER</a:t>
            </a:r>
            <a:endParaRPr lang="en-US" sz="784" dirty="0"/>
          </a:p>
        </p:txBody>
      </p:sp>
      <p:sp>
        <p:nvSpPr>
          <p:cNvPr id="22" name="Text 18"/>
          <p:cNvSpPr/>
          <p:nvPr/>
        </p:nvSpPr>
        <p:spPr>
          <a:xfrm>
            <a:off x="5241894" y="4300538"/>
            <a:ext cx="153671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D6AE7E"/>
                </a:solidFill>
              </a:rPr>
              <a:t>0,88</a:t>
            </a:r>
            <a:endParaRPr lang="en-US" sz="1499" dirty="0"/>
          </a:p>
        </p:txBody>
      </p:sp>
      <p:sp>
        <p:nvSpPr>
          <p:cNvPr id="23" name="Text 19"/>
          <p:cNvSpPr/>
          <p:nvPr/>
        </p:nvSpPr>
        <p:spPr>
          <a:xfrm>
            <a:off x="5241894" y="4557713"/>
            <a:ext cx="153671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000000"/>
                </a:solidFill>
              </a:rPr>
              <a:t>R² Score (2022-2024)</a:t>
            </a:r>
            <a:endParaRPr lang="en-US" sz="727" dirty="0"/>
          </a:p>
        </p:txBody>
      </p:sp>
      <p:sp>
        <p:nvSpPr>
          <p:cNvPr id="24" name="Shape 20"/>
          <p:cNvSpPr/>
          <p:nvPr/>
        </p:nvSpPr>
        <p:spPr>
          <a:xfrm>
            <a:off x="6978634" y="4014788"/>
            <a:ext cx="1708166" cy="771525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5" name="Shape 21"/>
          <p:cNvSpPr/>
          <p:nvPr/>
        </p:nvSpPr>
        <p:spPr>
          <a:xfrm>
            <a:off x="6978634" y="4014788"/>
            <a:ext cx="28575" cy="771525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6" name="Text 22"/>
          <p:cNvSpPr/>
          <p:nvPr/>
        </p:nvSpPr>
        <p:spPr>
          <a:xfrm>
            <a:off x="7064359" y="4100513"/>
            <a:ext cx="153671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21211"/>
                </a:solidFill>
              </a:rPr>
              <a:t>Plant1 Industrial</a:t>
            </a:r>
            <a:endParaRPr lang="en-US" sz="784" dirty="0"/>
          </a:p>
        </p:txBody>
      </p:sp>
      <p:sp>
        <p:nvSpPr>
          <p:cNvPr id="27" name="Text 23"/>
          <p:cNvSpPr/>
          <p:nvPr/>
        </p:nvSpPr>
        <p:spPr>
          <a:xfrm>
            <a:off x="7064359" y="4300538"/>
            <a:ext cx="153671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6B7280"/>
                </a:solidFill>
              </a:rPr>
              <a:t>0,91</a:t>
            </a:r>
            <a:endParaRPr lang="en-US" sz="1499" dirty="0"/>
          </a:p>
        </p:txBody>
      </p:sp>
      <p:sp>
        <p:nvSpPr>
          <p:cNvPr id="28" name="Text 24"/>
          <p:cNvSpPr/>
          <p:nvPr/>
        </p:nvSpPr>
        <p:spPr>
          <a:xfrm>
            <a:off x="7064359" y="4557713"/>
            <a:ext cx="153671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000000"/>
                </a:solidFill>
              </a:rPr>
              <a:t>R² Score (34 dias)</a:t>
            </a:r>
            <a:endParaRPr lang="en-US" sz="727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05206" y="285750"/>
            <a:ext cx="3533589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3077" b="1" dirty="0">
                <a:solidFill>
                  <a:srgbClr val="C44848"/>
                </a:solidFill>
              </a:rPr>
              <a:t>Próximos Passos</a:t>
            </a:r>
            <a:endParaRPr lang="en-US" sz="3077" dirty="0"/>
          </a:p>
        </p:txBody>
      </p:sp>
      <p:sp>
        <p:nvSpPr>
          <p:cNvPr id="4" name="Text 1"/>
          <p:cNvSpPr/>
          <p:nvPr/>
        </p:nvSpPr>
        <p:spPr>
          <a:xfrm>
            <a:off x="2805206" y="1028700"/>
            <a:ext cx="353358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69" dirty="0">
                <a:solidFill>
                  <a:srgbClr val="121211"/>
                </a:solidFill>
              </a:rPr>
              <a:t>Roadmap de evolução do Solarium SIEP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1280154" y="1828800"/>
            <a:ext cx="306324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21211"/>
                </a:solidFill>
              </a:rPr>
              <a:t>Evolução Técnica</a:t>
            </a:r>
            <a:endParaRPr lang="en-US" sz="1193" dirty="0"/>
          </a:p>
        </p:txBody>
      </p:sp>
      <p:sp>
        <p:nvSpPr>
          <p:cNvPr id="6" name="Shape 3"/>
          <p:cNvSpPr/>
          <p:nvPr/>
        </p:nvSpPr>
        <p:spPr>
          <a:xfrm>
            <a:off x="1280154" y="2271713"/>
            <a:ext cx="285750" cy="285750"/>
          </a:xfrm>
          <a:prstGeom prst="ellipse">
            <a:avLst/>
          </a:prstGeom>
          <a:solidFill>
            <a:srgbClr val="F9F9F9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592" y="2343150"/>
            <a:ext cx="142875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80204" y="2228850"/>
            <a:ext cx="266319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Redes Neurais LSTM</a:t>
            </a:r>
            <a:endParaRPr lang="en-US" sz="885" dirty="0"/>
          </a:p>
        </p:txBody>
      </p:sp>
      <p:sp>
        <p:nvSpPr>
          <p:cNvPr id="9" name="Text 5"/>
          <p:cNvSpPr/>
          <p:nvPr/>
        </p:nvSpPr>
        <p:spPr>
          <a:xfrm>
            <a:off x="1680204" y="2428875"/>
            <a:ext cx="266319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000000"/>
                </a:solidFill>
              </a:rPr>
              <a:t>Capturar dependências temporais de longo prazo</a:t>
            </a:r>
            <a:endParaRPr lang="en-US" sz="834" dirty="0"/>
          </a:p>
        </p:txBody>
      </p:sp>
      <p:sp>
        <p:nvSpPr>
          <p:cNvPr id="10" name="Shape 6"/>
          <p:cNvSpPr/>
          <p:nvPr/>
        </p:nvSpPr>
        <p:spPr>
          <a:xfrm>
            <a:off x="1280154" y="2757488"/>
            <a:ext cx="285750" cy="285750"/>
          </a:xfrm>
          <a:prstGeom prst="ellipse">
            <a:avLst/>
          </a:prstGeom>
          <a:solidFill>
            <a:srgbClr val="F9F9F9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1592" y="2828925"/>
            <a:ext cx="142875" cy="142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80204" y="2714625"/>
            <a:ext cx="23578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Previsão Probabilística</a:t>
            </a:r>
            <a:endParaRPr lang="en-US" sz="885" dirty="0"/>
          </a:p>
        </p:txBody>
      </p:sp>
      <p:sp>
        <p:nvSpPr>
          <p:cNvPr id="13" name="Text 8"/>
          <p:cNvSpPr/>
          <p:nvPr/>
        </p:nvSpPr>
        <p:spPr>
          <a:xfrm>
            <a:off x="1680204" y="2914650"/>
            <a:ext cx="2357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000000"/>
                </a:solidFill>
              </a:rPr>
              <a:t>Intervalos de confiança (ex: 80% de 2-3 MW)</a:t>
            </a:r>
            <a:endParaRPr lang="en-US" sz="834" dirty="0"/>
          </a:p>
        </p:txBody>
      </p:sp>
      <p:sp>
        <p:nvSpPr>
          <p:cNvPr id="14" name="Shape 9"/>
          <p:cNvSpPr/>
          <p:nvPr/>
        </p:nvSpPr>
        <p:spPr>
          <a:xfrm>
            <a:off x="1280154" y="3243263"/>
            <a:ext cx="285750" cy="285750"/>
          </a:xfrm>
          <a:prstGeom prst="ellipse">
            <a:avLst/>
          </a:prstGeom>
          <a:solidFill>
            <a:srgbClr val="F9F9F9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1592" y="3314700"/>
            <a:ext cx="142875" cy="14287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680204" y="3200400"/>
            <a:ext cx="248867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Ensemble Avançado</a:t>
            </a:r>
            <a:endParaRPr lang="en-US" sz="885" dirty="0"/>
          </a:p>
        </p:txBody>
      </p:sp>
      <p:sp>
        <p:nvSpPr>
          <p:cNvPr id="17" name="Text 11"/>
          <p:cNvSpPr/>
          <p:nvPr/>
        </p:nvSpPr>
        <p:spPr>
          <a:xfrm>
            <a:off x="1680204" y="3400425"/>
            <a:ext cx="248867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000000"/>
                </a:solidFill>
              </a:rPr>
              <a:t>Combinar RF + GB + LSTM para maior precisão</a:t>
            </a:r>
            <a:endParaRPr lang="en-US" sz="834" dirty="0"/>
          </a:p>
        </p:txBody>
      </p:sp>
      <p:sp>
        <p:nvSpPr>
          <p:cNvPr id="18" name="Shape 12"/>
          <p:cNvSpPr/>
          <p:nvPr/>
        </p:nvSpPr>
        <p:spPr>
          <a:xfrm>
            <a:off x="1280154" y="3729038"/>
            <a:ext cx="285750" cy="285750"/>
          </a:xfrm>
          <a:prstGeom prst="ellipse">
            <a:avLst/>
          </a:prstGeom>
          <a:solidFill>
            <a:srgbClr val="F9F9F9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1592" y="3800475"/>
            <a:ext cx="142875" cy="14287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680204" y="3686175"/>
            <a:ext cx="216840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Transfer Learning</a:t>
            </a:r>
            <a:endParaRPr lang="en-US" sz="885" dirty="0"/>
          </a:p>
        </p:txBody>
      </p:sp>
      <p:sp>
        <p:nvSpPr>
          <p:cNvPr id="21" name="Text 14"/>
          <p:cNvSpPr/>
          <p:nvPr/>
        </p:nvSpPr>
        <p:spPr>
          <a:xfrm>
            <a:off x="1680204" y="3886200"/>
            <a:ext cx="216840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000000"/>
                </a:solidFill>
              </a:rPr>
              <a:t>Adaptar modelos para novas instalações</a:t>
            </a:r>
            <a:endParaRPr lang="en-US" sz="834" dirty="0"/>
          </a:p>
        </p:txBody>
      </p:sp>
      <p:sp>
        <p:nvSpPr>
          <p:cNvPr id="22" name="Text 15"/>
          <p:cNvSpPr/>
          <p:nvPr/>
        </p:nvSpPr>
        <p:spPr>
          <a:xfrm>
            <a:off x="4800600" y="1828800"/>
            <a:ext cx="306324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21211"/>
                </a:solidFill>
              </a:rPr>
              <a:t>Integração Operacional</a:t>
            </a:r>
            <a:endParaRPr lang="en-US" sz="1193" dirty="0"/>
          </a:p>
        </p:txBody>
      </p:sp>
      <p:sp>
        <p:nvSpPr>
          <p:cNvPr id="23" name="Text 16"/>
          <p:cNvSpPr/>
          <p:nvPr/>
        </p:nvSpPr>
        <p:spPr>
          <a:xfrm>
            <a:off x="4972050" y="2228850"/>
            <a:ext cx="26983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IoT em tempo real com sensores conectados</a:t>
            </a:r>
            <a:endParaRPr lang="en-US" sz="942" dirty="0"/>
          </a:p>
        </p:txBody>
      </p:sp>
      <p:sp>
        <p:nvSpPr>
          <p:cNvPr id="24" name="Text 17"/>
          <p:cNvSpPr/>
          <p:nvPr/>
        </p:nvSpPr>
        <p:spPr>
          <a:xfrm>
            <a:off x="4972050" y="2543175"/>
            <a:ext cx="230045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API REST para disponibilizar predições</a:t>
            </a:r>
            <a:endParaRPr lang="en-US" sz="942" dirty="0"/>
          </a:p>
        </p:txBody>
      </p:sp>
      <p:sp>
        <p:nvSpPr>
          <p:cNvPr id="25" name="Text 18"/>
          <p:cNvSpPr/>
          <p:nvPr/>
        </p:nvSpPr>
        <p:spPr>
          <a:xfrm>
            <a:off x="4972050" y="2857500"/>
            <a:ext cx="231047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Dashboard interativo para operadores</a:t>
            </a:r>
            <a:endParaRPr lang="en-US" sz="942" dirty="0"/>
          </a:p>
        </p:txBody>
      </p:sp>
      <p:sp>
        <p:nvSpPr>
          <p:cNvPr id="26" name="Text 19"/>
          <p:cNvSpPr/>
          <p:nvPr/>
        </p:nvSpPr>
        <p:spPr>
          <a:xfrm>
            <a:off x="4972050" y="3171825"/>
            <a:ext cx="223370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Alertas automáticos sobre anomalias</a:t>
            </a:r>
            <a:endParaRPr lang="en-US" sz="942" dirty="0"/>
          </a:p>
        </p:txBody>
      </p:sp>
      <p:sp>
        <p:nvSpPr>
          <p:cNvPr id="27" name="Text 20"/>
          <p:cNvSpPr/>
          <p:nvPr/>
        </p:nvSpPr>
        <p:spPr>
          <a:xfrm>
            <a:off x="4972050" y="3486150"/>
            <a:ext cx="197228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Manutenção preditiva de painéis</a:t>
            </a:r>
            <a:endParaRPr lang="en-US" sz="942" dirty="0"/>
          </a:p>
        </p:txBody>
      </p:sp>
      <p:sp>
        <p:nvSpPr>
          <p:cNvPr id="28" name="Text 21"/>
          <p:cNvSpPr/>
          <p:nvPr/>
        </p:nvSpPr>
        <p:spPr>
          <a:xfrm>
            <a:off x="4972050" y="3800475"/>
            <a:ext cx="247776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Otimização de portfólio multi-instalações</a:t>
            </a:r>
            <a:endParaRPr lang="en-US" sz="942" dirty="0"/>
          </a:p>
        </p:txBody>
      </p:sp>
      <p:sp>
        <p:nvSpPr>
          <p:cNvPr id="29" name="Text 22"/>
          <p:cNvSpPr/>
          <p:nvPr/>
        </p:nvSpPr>
        <p:spPr>
          <a:xfrm>
            <a:off x="4972050" y="4114800"/>
            <a:ext cx="219525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Integração com mercado de energia</a:t>
            </a:r>
            <a:endParaRPr lang="en-US" sz="942" dirty="0"/>
          </a:p>
        </p:txBody>
      </p:sp>
      <p:sp>
        <p:nvSpPr>
          <p:cNvPr id="30" name="Text 23"/>
          <p:cNvSpPr/>
          <p:nvPr/>
        </p:nvSpPr>
        <p:spPr>
          <a:xfrm>
            <a:off x="1587252" y="4657725"/>
            <a:ext cx="596946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Impacto Esperado: R² &gt; 0,96 | Redução de custos 15-20% | Aumento de receita 10-15%</a:t>
            </a:r>
            <a:endParaRPr lang="en-US" sz="987" dirty="0"/>
          </a:p>
        </p:txBody>
      </p:sp>
      <p:sp>
        <p:nvSpPr>
          <p:cNvPr id="31" name="Text 24"/>
          <p:cNvSpPr/>
          <p:nvPr/>
        </p:nvSpPr>
        <p:spPr>
          <a:xfrm>
            <a:off x="1587252" y="4857750"/>
            <a:ext cx="596946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</a:rPr>
              <a:t>Projeto A3 - Solarium SIEP - 2025.2</a:t>
            </a:r>
            <a:endParaRPr lang="en-US" sz="94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1322</Words>
  <Application>Microsoft Office PowerPoint</Application>
  <PresentationFormat>Apresentação na tela (16:9)</PresentationFormat>
  <Paragraphs>284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 </cp:lastModifiedBy>
  <cp:revision>2</cp:revision>
  <dcterms:created xsi:type="dcterms:W3CDTF">2025-11-25T21:00:22Z</dcterms:created>
  <dcterms:modified xsi:type="dcterms:W3CDTF">2025-12-02T20:59:06Z</dcterms:modified>
</cp:coreProperties>
</file>